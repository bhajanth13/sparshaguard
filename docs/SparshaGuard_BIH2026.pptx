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Demo" Type="http://schemas.openxmlformats.org/officeDocument/2006/relationships/image" Target="../media/demo_watch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3232" y="1508760"/>
            <a:ext cx="7498079" cy="7315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4200" b="1">
                <a:solidFill>
                  <a:srgbClr val="191B5C"/>
                </a:solidFill>
                <a:latin typeface="Aptos"/>
              </a:rPr>
              <a:t>BHARATH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9692640" cy="6583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3000" b="1">
                <a:solidFill>
                  <a:srgbClr val="5B2278"/>
                </a:solidFill>
                <a:latin typeface="Aptos"/>
              </a:rPr>
              <a:t>INNOVATE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3063240"/>
            <a:ext cx="768096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600" b="1">
                <a:solidFill>
                  <a:srgbClr val="696775"/>
                </a:solidFill>
                <a:latin typeface="Aptos"/>
              </a:rPr>
              <a:t>BIH2026  |  PROJECT 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675887"/>
            <a:ext cx="6949440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3977639"/>
            <a:ext cx="768096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300" b="1">
                <a:solidFill>
                  <a:srgbClr val="191B5C"/>
                </a:solidFill>
                <a:latin typeface="Aptos"/>
              </a:rPr>
              <a:t>SparshaGuard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53712"/>
            <a:ext cx="75895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600" b="0">
                <a:solidFill>
                  <a:srgbClr val="696775"/>
                </a:solidFill>
                <a:latin typeface="Aptos"/>
              </a:rPr>
              <a:t>A safety smartwatch where a stranger's touch raises the alarm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1600200"/>
            <a:ext cx="2514600" cy="3063240"/>
          </a:xfrm>
          <a:prstGeom prst="roundRect">
            <a:avLst/>
          </a:prstGeom>
          <a:solidFill>
            <a:srgbClr val="FAF9FC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79408" y="1847088"/>
            <a:ext cx="210312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5B2278"/>
                </a:solidFill>
                <a:latin typeface="Aptos"/>
              </a:rPr>
              <a:t>TEAM DETAILS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8" y="2395728"/>
            <a:ext cx="210312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700" b="1">
                <a:solidFill>
                  <a:srgbClr val="191B5C"/>
                </a:solidFill>
                <a:latin typeface="Aptos"/>
              </a:rPr>
              <a:t>Team Sparsha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79408" y="2944368"/>
            <a:ext cx="2103120" cy="64008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0">
                <a:solidFill>
                  <a:srgbClr val="2D2B39"/>
                </a:solidFill>
                <a:latin typeface="Aptos"/>
              </a:rPr>
              <a:t>RV University, Bengaluru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8" y="384048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Mentor: Dr. Shruthi 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46520"/>
            <a:ext cx="694944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EMATIX  •  Connecting Today, Tomorrow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6446520"/>
            <a:ext cx="315468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ptos"/>
              </a:rPr>
              <a:t>github.com/Bhajanth13/SparshaGuard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A23FA03-9B86-7AA0-E5ED-DDCB2A4E20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310896"/>
            <a:ext cx="3038168" cy="9692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Problem Statement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69164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The 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In an attack there is rarely time to find a phone, unlock it and press SOS. Almost every safety app needs the victim to act first.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73736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17920" y="1737360"/>
            <a:ext cx="68580" cy="169164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184708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Who is affected?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21284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Women walking alone at night, commuting in crowded buses and metros, or riding cabs and autos, and the families waiting for them.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0332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3703320"/>
            <a:ext cx="68580" cy="169164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59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Current limitations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417880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SOS apps and panic buttons need a deliberate action. Fall and heart-rate alerts on wearables can't tell a stranger's grab from daily movement.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70332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17920" y="3703320"/>
            <a:ext cx="68580" cy="169164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0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17880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NCRB, Crime in India 2022: 4,45,256 crimes against women registered, up 4 % on 2021; 18.7 % were assaults on a woman's modesty.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242AFD82-37DE-0EEE-E049-DC9F97B992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Proposed 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67665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82880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644652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Solution overview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6446520" cy="12618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600" b="0">
                <a:solidFill>
                  <a:srgbClr val="2D2B39"/>
                </a:solidFill>
                <a:latin typeface="Aptos"/>
              </a:rPr>
              <a:t>A smartwatch that senses touch. In Guard Mode, another person's hand held at the watch for 2 s starts a 15 s PIN countdown. No PIN or a wrong PIN sends SMS + GPS, calls 112 and records audio.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1737360"/>
            <a:ext cx="39319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635240" y="1737360"/>
            <a:ext cx="68580" cy="182880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818119" y="1847088"/>
            <a:ext cx="36118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Key innovation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19" y="2212848"/>
            <a:ext cx="3611879" cy="12618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The default is flipped: the touch itself raises the alarm. A duress PIN fakes a cancel and alerts silently; pulling the watch off alerts at once.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977639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400" b="1">
                <a:solidFill>
                  <a:srgbClr val="191B5C"/>
                </a:solidFill>
                <a:latin typeface="Aptos"/>
              </a:rPr>
              <a:t>KEY BENEFITS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4348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5800" y="4434840"/>
            <a:ext cx="68580" cy="105156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45445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01  Hands-free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9103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No phone, no button: she only acts to cancel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44348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480560" y="4434840"/>
            <a:ext cx="68580" cy="105156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3440" y="45445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02  Discreet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49103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A duress PIN looks like a normal cancel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75320" y="44348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275320" y="4434840"/>
            <a:ext cx="68580" cy="105156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58200" y="45445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03  Grounded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49103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Physics from 15 papers, checked with SPICE + FastCap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8CDA1B1-793F-FBFC-429B-CC538C335C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24464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Architecture &amp; Technology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64208"/>
            <a:ext cx="274320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300" b="1">
                <a:solidFill>
                  <a:srgbClr val="5B2278"/>
                </a:solidFill>
                <a:latin typeface="Aptos"/>
              </a:rPr>
              <a:t>SYSTEM FLOW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5528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SENSE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Skin electrode sweep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75887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DETECT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Change held for 2 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188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56248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DECIDE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PIN · duress · strap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4224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36607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ALERT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36607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SMS + GPS · call 112 · audio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3794760"/>
            <a:ext cx="52578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85800" y="3794760"/>
            <a:ext cx="68580" cy="155448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3904488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Technology stack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270248"/>
            <a:ext cx="493776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Sensing: </a:t>
            </a:r>
            <a:r>
              <a:rPr sz="1400" b="0">
                <a:solidFill>
                  <a:srgbClr val="2D2B39"/>
                </a:solidFill>
                <a:latin typeface="Aptos"/>
              </a:rPr>
              <a:t>Touché swept-frequency, ESP32 + LC tank</a:t>
            </a:r>
          </a:p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Model: </a:t>
            </a:r>
            <a:r>
              <a:rPr sz="1400" b="0">
                <a:solidFill>
                  <a:srgbClr val="2D2B39"/>
                </a:solidFill>
                <a:latin typeface="Aptos"/>
              </a:rPr>
              <a:t>Python (NumPy, SciPy), SVM, random forest</a:t>
            </a:r>
          </a:p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Checks: </a:t>
            </a:r>
            <a:r>
              <a:rPr sz="1400" b="0">
                <a:solidFill>
                  <a:srgbClr val="2D2B39"/>
                </a:solidFill>
                <a:latin typeface="Aptos"/>
              </a:rPr>
              <a:t xml:space="preserve">ngspice, MIT FastCap  ·  </a:t>
            </a:r>
            <a:r>
              <a:rPr sz="1400" b="1">
                <a:solidFill>
                  <a:srgbClr val="2D2B39"/>
                </a:solidFill>
                <a:latin typeface="Aptos"/>
              </a:rPr>
              <a:t xml:space="preserve">Demo: </a:t>
            </a:r>
            <a:r>
              <a:rPr sz="1400" b="0">
                <a:solidFill>
                  <a:srgbClr val="2D2B39"/>
                </a:solidFill>
                <a:latin typeface="Aptos"/>
              </a:rPr>
              <a:t>HTML / JS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3794760"/>
            <a:ext cx="52578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17920" y="3794760"/>
            <a:ext cx="68580" cy="155448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3904488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Why these technologies?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270248"/>
            <a:ext cx="493776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Low-cost parts, battery-powered, every decision on the watch. Each model value is traced to a published paper, and two independent solvers confirm the physics.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E8E86637-C615-FC3B-0E6F-0AA6FAA445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Prototype &amp; Demonstration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3736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37360"/>
            <a:ext cx="68580" cy="342900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1847088"/>
            <a:ext cx="31089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Feature 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212848"/>
            <a:ext cx="3108960" cy="28620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1">
                <a:solidFill>
                  <a:srgbClr val="2D2B39"/>
                </a:solidFill>
                <a:latin typeface="Aptos"/>
              </a:rPr>
              <a:t>Digital-twin demo</a:t>
            </a:r>
          </a:p>
          <a:p>
            <a:pPr algn="l"/>
            <a:endParaRPr sz="1500"/>
          </a:p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The watch's own firmware runs on a simulated sensor: 200-frequency sweeps, 5 per second, with sweat drift and ADC noise.</a:t>
            </a:r>
          </a:p>
          <a:p>
            <a:pPr algn="l"/>
            <a:endParaRPr sz="1500"/>
          </a:p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Guided story and a try-it-yourself mode: grab, PIN, duress, strap removal.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173736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89120" y="1737360"/>
            <a:ext cx="68580" cy="342900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0" y="1847088"/>
            <a:ext cx="31089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Feature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12848"/>
            <a:ext cx="3108960" cy="28620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1">
                <a:solidFill>
                  <a:srgbClr val="2D2B39"/>
                </a:solidFill>
                <a:latin typeface="Aptos"/>
              </a:rPr>
              <a:t>Validated physics model</a:t>
            </a:r>
          </a:p>
          <a:p>
            <a:pPr algn="l"/>
            <a:endParaRPr sz="1500"/>
          </a:p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Built from 15 published papers. Python solver matches SPICE to 0.0001 %; 3D field matches MIT FastCap within 1 %.</a:t>
            </a:r>
          </a:p>
          <a:p>
            <a:pPr algn="l"/>
            <a:endParaRPr sz="1500"/>
          </a:p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Wrist grab: ~16 % signal vs 0.1 % noise. 93 % caught in simulated daily life.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173736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40" y="1920240"/>
            <a:ext cx="29718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191B5C"/>
                </a:solidFill>
                <a:latin typeface="Aptos"/>
              </a:rPr>
              <a:t>SCREENSHOT / DEMO</a:t>
            </a:r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90" name="Demo screenshot" descr="SparshaGuard digital-twin demo: watch showing Alert sent, ring red, sensor signal jumped above the 0.3 % threshold"/>
          <p:cNvPicPr>
            <a:picLocks noChangeAspect="1"/>
          </p:cNvPicPr>
          <p:nvPr/>
        </p:nvPicPr>
        <p:blipFill>
          <a:blip r:embed="rIdDemo"/>
          <a:stretch>
            <a:fillRect/>
          </a:stretch>
        </p:blipFill>
        <p:spPr>
          <a:xfrm>
            <a:off x="8229600" y="2395728"/>
            <a:ext cx="3154680" cy="2306401"/>
          </a:xfrm>
          <a:prstGeom prst="rect">
            <a:avLst/>
          </a:prstGeom>
          <a:ln w="9525">
            <a:solidFill>
              <a:srgbClr val="DDDBE4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731520" y="5532120"/>
            <a:ext cx="1078992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400" b="1">
                <a:solidFill>
                  <a:srgbClr val="5B2278"/>
                </a:solidFill>
                <a:latin typeface="Aptos"/>
              </a:rPr>
              <a:t xml:space="preserve">Live demo: </a:t>
            </a:r>
            <a:r>
              <a:rPr sz="1400" b="0">
                <a:solidFill>
                  <a:srgbClr val="5B2278"/>
                </a:solidFill>
                <a:latin typeface="Aptos"/>
              </a:rPr>
              <a:t>bhajanth13.github.io/SparshaGuard/demo/sparshaguard_demo.html</a:t>
            </a:r>
            <a:r>
              <a:rPr sz="1400" b="1">
                <a:solidFill>
                  <a:srgbClr val="5B2278"/>
                </a:solidFill>
                <a:latin typeface="Aptos"/>
              </a:rPr>
              <a:t xml:space="preserve">    Code: </a:t>
            </a:r>
            <a:r>
              <a:rPr sz="1400" b="0">
                <a:solidFill>
                  <a:srgbClr val="5B2278"/>
                </a:solidFill>
                <a:latin typeface="Aptos"/>
              </a:rPr>
              <a:t>github.com/Bhajanth13/SparshaGuard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63CD1D4-3436-94EE-3465-AD79359F22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Feasibility &amp; Risk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35204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60020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Technical feasibility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3200400" cy="103327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Off-the-shelf parts: ESP32, LC tank, steel electrode. Detection logic is already written and tested.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37360"/>
            <a:ext cx="35204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43400" y="1737360"/>
            <a:ext cx="68580" cy="160020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2628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Operational viability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12848"/>
            <a:ext cx="3200400" cy="103327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Battery-powered; all decisions on the watch. Alerts over 4G LTE Cat-1, since 2G is being shut down.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737360"/>
            <a:ext cx="35204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46720" y="1737360"/>
            <a:ext cx="68580" cy="160020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Market viability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212848"/>
            <a:ext cx="3200400" cy="103327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Women commuters, students, night-shift workers and their families. Unlike SOS apps, she needs no action.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703320"/>
            <a:ext cx="534924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3703320"/>
            <a:ext cx="68580" cy="155448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59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Main 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4178808"/>
            <a:ext cx="502920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The values are simulated, not yet measured. The wrist sensor can't feel grabs on the forearm or shoulder, and ~4–5 unwanted PIN prompts per hour are expected.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03320"/>
            <a:ext cx="534924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217920" y="3703320"/>
            <a:ext cx="68580" cy="155448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0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Mitigation / fallback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78808"/>
            <a:ext cx="502920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A battery prototype (Gate 1) measures the remaining values. Motion and on-device audio sensing cover grabs away from the wrist; the PIN handles friendly touches.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818273AC-FA8D-BB98-BE39-D900A13B46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Impact, Business Model &amp; Roadmap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352044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73736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3200400" cy="11704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Help is called even when she can't reach her phone. Live location and audio give family and police something to act 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37360"/>
            <a:ext cx="352044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43400" y="1737360"/>
            <a:ext cx="68580" cy="173736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2628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Business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12848"/>
            <a:ext cx="3200400" cy="11704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Watch sold to individuals; bulk plans for colleges, hostels and employers; optional alert-service subscription.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737360"/>
            <a:ext cx="352044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46720" y="1737360"/>
            <a:ext cx="68580" cy="173736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Success metrics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212848"/>
            <a:ext cx="3200400" cy="11704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≥ 90 % of wrist grabs caught on hardware · &lt; 2 unwanted prompts per hour · alert sent within 20 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977639"/>
            <a:ext cx="36576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400" b="1">
                <a:solidFill>
                  <a:srgbClr val="191B5C"/>
                </a:solidFill>
                <a:latin typeface="Aptos"/>
              </a:rPr>
              <a:t>FUTURE ROADMAP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4805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45902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NOW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45720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Validated model + digital twin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4805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17720" y="45902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NEXT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45720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Battery prototype, field tests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4805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80" y="45902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LATER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45720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Motion + audio, college pilot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44D92271-3D80-F7C7-038D-2F0283A685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Team &amp; Responsibilities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828800"/>
            <a:ext cx="521208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1488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191B5C"/>
                </a:solidFill>
                <a:latin typeface="Aptos"/>
              </a:rPr>
              <a:t>MEMBER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060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5B2278"/>
                </a:solidFill>
                <a:latin typeface="Aptos"/>
              </a:rPr>
              <a:t>Bhajanth 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0632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100" b="0">
                <a:solidFill>
                  <a:srgbClr val="696775"/>
                </a:solidFill>
                <a:latin typeface="Aptos"/>
              </a:rPr>
              <a:t>Co-developer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28800"/>
            <a:ext cx="521208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80" y="21488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191B5C"/>
                </a:solidFill>
                <a:latin typeface="Aptos"/>
              </a:rPr>
              <a:t>MEMBER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6060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5B2278"/>
                </a:solidFill>
                <a:latin typeface="Aptos"/>
              </a:rPr>
              <a:t>Sukruth A Chinnur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0632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100" b="0">
                <a:solidFill>
                  <a:srgbClr val="696775"/>
                </a:solidFill>
                <a:latin typeface="Aptos"/>
              </a:rPr>
              <a:t>Co-developer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160520"/>
            <a:ext cx="52120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85800" y="4160520"/>
            <a:ext cx="68580" cy="118872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4270248"/>
            <a:ext cx="489204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Mentor / institution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636008"/>
            <a:ext cx="4892040" cy="62179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Dr. Shruthi P, Faculty Mentor</a:t>
            </a:r>
          </a:p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RV University, Bengaluru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4160520"/>
            <a:ext cx="52120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17920" y="4160520"/>
            <a:ext cx="68580" cy="118872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4270248"/>
            <a:ext cx="489204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Execution plan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636008"/>
            <a:ext cx="4892040" cy="62179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Proposal → sourced physics model → SPICE and FastCap checks → digital twin → Gate 1 prototype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EEE4E774-0996-A8C0-7234-569673F7F7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698480" cy="8229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4200" b="1">
                <a:solidFill>
                  <a:srgbClr val="191B5C"/>
                </a:solidFill>
                <a:latin typeface="Aptos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45720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300" b="1">
                <a:solidFill>
                  <a:srgbClr val="5B2278"/>
                </a:solidFill>
                <a:latin typeface="Aptos"/>
              </a:rPr>
              <a:t>SparshaGuard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37560"/>
            <a:ext cx="1069848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600" b="0">
                <a:solidFill>
                  <a:srgbClr val="696775"/>
                </a:solidFill>
                <a:latin typeface="Aptos"/>
              </a:rPr>
              <a:t>Questions • Feedback • Collaboration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4160520"/>
            <a:ext cx="6720840" cy="822960"/>
          </a:xfrm>
          <a:prstGeom prst="roundRect">
            <a:avLst/>
          </a:prstGeom>
          <a:solidFill>
            <a:srgbClr val="FAF9FC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361688"/>
            <a:ext cx="635508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github.com/Bhajanth13/SparshaGuard   |   Live demo on GitHub Pages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69848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BHARATH INNOVATE HACKATHON 2026  •  INNOVATE | BUILD | SOLVE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BD285F2-FA50-7D9A-0841-712837BDA0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622</Words>
  <Application>Microsoft Office PowerPoint</Application>
  <PresentationFormat>Widescreen</PresentationFormat>
  <Paragraphs>132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BIH2026 Simple Presentation Template with EMATIX Logo</dc:title>
  <dc:subject>Simple, clean, editable hackathon project presentation</dc:subject>
  <dc:creator>EMATIX Embedded &amp; Software Solutions Pvt. Ltd.</dc:creator>
  <cp:keywords/>
  <dc:description>generated using python-pptx</dc:description>
  <cp:lastModifiedBy>Saran .S</cp:lastModifiedBy>
  <cp:revision>2</cp:revision>
  <dcterms:created xsi:type="dcterms:W3CDTF">2013-01-27T09:14:16Z</dcterms:created>
  <dcterms:modified xsi:type="dcterms:W3CDTF">2026-10-13T04:11:04Z</dcterms:modified>
  <cp:category/>
</cp:coreProperties>
</file>