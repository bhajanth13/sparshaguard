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Demo" Type="http://schemas.openxmlformats.org/officeDocument/2006/relationships/image" Target="../media/demo_watch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08760"/>
            <a:ext cx="7498079" cy="7315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4200" b="1">
                <a:solidFill>
                  <a:srgbClr val="191B5C"/>
                </a:solidFill>
                <a:latin typeface="Aptos"/>
              </a:rPr>
              <a:t>BHARATH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9692640" cy="6583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3000" b="1">
                <a:solidFill>
                  <a:srgbClr val="5B2278"/>
                </a:solidFill>
                <a:latin typeface="Aptos"/>
              </a:rPr>
              <a:t>INNOVATE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063240"/>
            <a:ext cx="768096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600" b="1">
                <a:solidFill>
                  <a:srgbClr val="696775"/>
                </a:solidFill>
                <a:latin typeface="Aptos"/>
              </a:rPr>
              <a:t>BIH2026  |  PROJECT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675887"/>
            <a:ext cx="6949440" cy="4114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3977639"/>
            <a:ext cx="7680960" cy="5029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300" b="1">
                <a:solidFill>
                  <a:srgbClr val="191B5C"/>
                </a:solidFill>
                <a:latin typeface="Aptos"/>
              </a:rPr>
              <a:t>SparshaGuard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53712"/>
            <a:ext cx="75895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600" b="0">
                <a:solidFill>
                  <a:srgbClr val="696775"/>
                </a:solidFill>
                <a:latin typeface="Aptos"/>
              </a:rPr>
              <a:t>A safety smartwatch where a stranger's touch raises the alarm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600200"/>
            <a:ext cx="2514600" cy="3063240"/>
          </a:xfrm>
          <a:prstGeom prst="roundRect">
            <a:avLst/>
          </a:prstGeom>
          <a:solidFill>
            <a:srgbClr val="FAF9FC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79408" y="1847088"/>
            <a:ext cx="210312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>
                <a:solidFill>
                  <a:srgbClr val="5B2278"/>
                </a:solidFill>
                <a:latin typeface="Aptos"/>
              </a:rPr>
              <a:t>TEAM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2395728"/>
            <a:ext cx="210312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700" b="1">
                <a:solidFill>
                  <a:srgbClr val="191B5C"/>
                </a:solidFill>
                <a:latin typeface="Aptos"/>
              </a:rPr>
              <a:t>Team Sparsha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2944368"/>
            <a:ext cx="2103120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0">
                <a:solidFill>
                  <a:srgbClr val="2D2B39"/>
                </a:solidFill>
                <a:latin typeface="Aptos"/>
              </a:rPr>
              <a:t>RV University, Mysuru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3840480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696775"/>
                </a:solidFill>
                <a:latin typeface="Aptos"/>
              </a:rPr>
              <a:t>Mentor: Dr. Shruthi 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694944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EMATIX  •  Connecting Today, Tomorrow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6446520"/>
            <a:ext cx="315468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github.com/Bhajanth13/SparshaGuard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A23FA03-9B86-7AA0-E5ED-DDCB2A4E2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4" b="12718"/>
          <a:stretch>
            <a:fillRect/>
          </a:stretch>
        </p:blipFill>
        <p:spPr>
          <a:xfrm>
            <a:off x="314632" y="310896"/>
            <a:ext cx="3038168" cy="9692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57400" y="256032"/>
            <a:ext cx="722376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1">
                <a:solidFill>
                  <a:srgbClr val="191B5C"/>
                </a:solidFill>
                <a:latin typeface="Aptos"/>
              </a:rPr>
              <a:t>BHARATH INNOVATE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4864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1100" b="1">
                <a:solidFill>
                  <a:srgbClr val="5B227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500" b="1">
                <a:solidFill>
                  <a:srgbClr val="191B5C"/>
                </a:solidFill>
                <a:latin typeface="Aptos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58368" cy="4114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68580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00" b="1">
                <a:solidFill>
                  <a:srgbClr val="696775"/>
                </a:solidFill>
                <a:latin typeface="Aptos"/>
              </a:rPr>
              <a:t>Innovate  |  Build  |  Solve  |  A Stronger Bharat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382512"/>
            <a:ext cx="324612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900" b="0">
                <a:solidFill>
                  <a:srgbClr val="696775"/>
                </a:solidFill>
                <a:latin typeface="Aptos"/>
              </a:rPr>
              <a:t>Team Sparsha  •  RV University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5349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68580" cy="1691640"/>
          </a:xfrm>
          <a:prstGeom prst="rect">
            <a:avLst/>
          </a:prstGeom>
          <a:solidFill>
            <a:srgbClr val="5B2278"/>
          </a:solidFill>
          <a:ln>
            <a:solidFill>
              <a:srgbClr val="5B2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1847088"/>
            <a:ext cx="50292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Problem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212848"/>
            <a:ext cx="5029200" cy="112471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 marL="228600" indent="-228600">
              <a:buFont typeface="Arial"/>
              <a:buChar char="•"/>
            </a:pPr>
            <a:r>
              <a:rPr sz="1400" b="0">
                <a:solidFill>
                  <a:srgbClr val="2D2B39"/>
                </a:solidFill>
                <a:latin typeface="Aptos"/>
              </a:rPr>
              <a:t>Every personal safety alert today (SOS apps, panic buttons) needs the victim to act first.</a:t>
            </a:r>
          </a:p>
          <a:p>
            <a:pPr algn="l" marL="228600" indent="-228600">
              <a:buFont typeface="Arial"/>
              <a:buChar char="•"/>
            </a:pPr>
            <a:r>
              <a:rPr sz="1400" b="0">
                <a:solidFill>
                  <a:srgbClr val="2D2B39"/>
                </a:solidFill>
                <a:latin typeface="Aptos"/>
              </a:rPr>
              <a:t>An attack rarely allows that.</a:t>
            </a:r>
          </a:p>
          <a:p>
            <a:pPr algn="l" marL="228600" indent="-228600">
              <a:buFont typeface="Arial"/>
              <a:buChar char="•"/>
            </a:pPr>
            <a:r>
              <a:rPr sz="1400" b="0">
                <a:solidFill>
                  <a:srgbClr val="2D2B39"/>
                </a:solidFill>
                <a:latin typeface="Aptos"/>
              </a:rPr>
              <a:t>No wearable raises an alarm on its own when another person touches 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5349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737360"/>
            <a:ext cx="68580" cy="1691640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847088"/>
            <a:ext cx="50292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Who is affected?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12848"/>
            <a:ext cx="5029200" cy="112471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 marL="228600" indent="-228600">
              <a:buFont typeface="Arial"/>
              <a:buChar char="•"/>
            </a:pPr>
            <a:r>
              <a:rPr sz="1400" b="0">
                <a:solidFill>
                  <a:srgbClr val="2D2B39"/>
                </a:solidFill>
                <a:latin typeface="Aptos"/>
              </a:rPr>
              <a:t>Women walking alone at night</a:t>
            </a:r>
          </a:p>
          <a:p>
            <a:pPr algn="l" marL="228600" indent="-228600">
              <a:buFont typeface="Arial"/>
              <a:buChar char="•"/>
            </a:pPr>
            <a:r>
              <a:rPr sz="1400" b="0">
                <a:solidFill>
                  <a:srgbClr val="2D2B39"/>
                </a:solidFill>
                <a:latin typeface="Aptos"/>
              </a:rPr>
              <a:t>Commuters in crowded buses and metros</a:t>
            </a:r>
          </a:p>
          <a:p>
            <a:pPr algn="l" marL="228600" indent="-228600">
              <a:buFont typeface="Arial"/>
              <a:buChar char="•"/>
            </a:pPr>
            <a:r>
              <a:rPr sz="1400" b="0">
                <a:solidFill>
                  <a:srgbClr val="2D2B39"/>
                </a:solidFill>
                <a:latin typeface="Aptos"/>
              </a:rPr>
              <a:t>Women riding cabs and autos</a:t>
            </a:r>
          </a:p>
          <a:p>
            <a:pPr algn="l" marL="228600" indent="-228600">
              <a:buFont typeface="Arial"/>
              <a:buChar char="•"/>
            </a:pPr>
            <a:r>
              <a:rPr sz="1400" b="0">
                <a:solidFill>
                  <a:srgbClr val="2D2B39"/>
                </a:solidFill>
                <a:latin typeface="Aptos"/>
              </a:rPr>
              <a:t>The families waiting for them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703320"/>
            <a:ext cx="68580" cy="2240280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3813048"/>
            <a:ext cx="50292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Current 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178808"/>
            <a:ext cx="5029200" cy="16000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 marL="228600" indent="-228600">
              <a:buFont typeface="Arial"/>
              <a:buChar char="•"/>
            </a:pPr>
            <a:r>
              <a:rPr sz="1400" b="0">
                <a:solidFill>
                  <a:srgbClr val="2D2B39"/>
                </a:solidFill>
                <a:latin typeface="Aptos"/>
              </a:rPr>
              <a:t>SOS apps and panic buttons need a deliberate action</a:t>
            </a:r>
          </a:p>
          <a:p>
            <a:pPr algn="l" marL="228600" indent="-228600">
              <a:buFont typeface="Arial"/>
              <a:buChar char="•"/>
            </a:pPr>
            <a:r>
              <a:rPr sz="1400" b="0">
                <a:solidFill>
                  <a:srgbClr val="2D2B39"/>
                </a:solidFill>
                <a:latin typeface="Aptos"/>
              </a:rPr>
              <a:t>Fall and heart-rate alerts on wearables can't tell a stranger's grab from daily movement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03320"/>
            <a:ext cx="53492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3703320"/>
            <a:ext cx="68580" cy="2240280"/>
          </a:xfrm>
          <a:prstGeom prst="rect">
            <a:avLst/>
          </a:prstGeom>
          <a:solidFill>
            <a:srgbClr val="5B2278"/>
          </a:solidFill>
          <a:ln>
            <a:solidFill>
              <a:srgbClr val="5B2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813048"/>
            <a:ext cx="50292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Evidence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42AFD82-37DE-0EEE-E049-DC9F97B992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4" b="12718"/>
          <a:stretch>
            <a:fillRect/>
          </a:stretch>
        </p:blipFill>
        <p:spPr>
          <a:xfrm>
            <a:off x="314632" y="203980"/>
            <a:ext cx="1742768" cy="55599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0" y="4160000"/>
            <a:ext cx="256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B39"/>
                </a:solidFill>
                <a:latin typeface="Aptos"/>
              </a:rPr>
              <a:t>Crimes against women registered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40000"/>
            <a:ext cx="42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6A78"/>
                </a:solidFill>
                <a:latin typeface="Aptos"/>
              </a:rPr>
              <a:t>2021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20800" y="4540000"/>
            <a:ext cx="1442803" cy="230000"/>
          </a:xfrm>
          <a:prstGeom prst="rect">
            <a:avLst/>
          </a:prstGeom>
          <a:solidFill>
            <a:srgbClr val="9A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3603" y="4540000"/>
            <a:ext cx="70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D2B39"/>
                </a:solidFill>
                <a:latin typeface="Aptos"/>
              </a:rPr>
              <a:t>4,28,278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00000"/>
            <a:ext cx="42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B6A78"/>
                </a:solidFill>
                <a:latin typeface="Aptos"/>
              </a:rPr>
              <a:t>2022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20800" y="4900000"/>
            <a:ext cx="1500000" cy="230000"/>
          </a:xfrm>
          <a:prstGeom prst="rect">
            <a:avLst/>
          </a:prstGeom>
          <a:solidFill>
            <a:srgbClr val="191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0800" y="4900000"/>
            <a:ext cx="700000" cy="2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D2B39"/>
                </a:solidFill>
                <a:latin typeface="Aptos"/>
              </a:rPr>
              <a:t>4,45,256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90000"/>
            <a:ext cx="256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A78"/>
                </a:solidFill>
                <a:latin typeface="Aptos"/>
              </a:rPr>
              <a:t>+4 % in one year: about 51 every hour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0800" y="4120000"/>
            <a:ext cx="222920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5B2278"/>
                </a:solidFill>
                <a:latin typeface="Aptos"/>
              </a:rPr>
              <a:t>18.7 %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0800" y="4600000"/>
            <a:ext cx="222920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2B39"/>
                </a:solidFill>
                <a:latin typeface="Aptos"/>
              </a:rPr>
              <a:t>were assaults on a woman's modesty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00800" y="5160000"/>
            <a:ext cx="2229200" cy="200000"/>
          </a:xfrm>
          <a:prstGeom prst="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00800" y="5160000"/>
            <a:ext cx="416860" cy="200000"/>
          </a:xfrm>
          <a:prstGeom prst="rect">
            <a:avLst/>
          </a:prstGeom>
          <a:solidFill>
            <a:srgbClr val="5B2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00800" y="5390000"/>
            <a:ext cx="22292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A78"/>
                </a:solidFill>
                <a:latin typeface="Aptos"/>
              </a:rPr>
              <a:t>share of all 4,45,256 cases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720000"/>
            <a:ext cx="50292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A78"/>
                </a:solidFill>
                <a:latin typeface="Aptos"/>
              </a:rPr>
              <a:t>Source: NCRB, Crime in India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57400" y="256032"/>
            <a:ext cx="722376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1">
                <a:solidFill>
                  <a:srgbClr val="191B5C"/>
                </a:solidFill>
                <a:latin typeface="Aptos"/>
              </a:rPr>
              <a:t>BHARATH INNOVATE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4864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1100" b="1">
                <a:solidFill>
                  <a:srgbClr val="5B227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500" b="1">
                <a:solidFill>
                  <a:srgbClr val="191B5C"/>
                </a:solidFill>
                <a:latin typeface="Aptos"/>
              </a:rPr>
              <a:t>Proposed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58368" cy="4114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68580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00" b="1">
                <a:solidFill>
                  <a:srgbClr val="696775"/>
                </a:solidFill>
                <a:latin typeface="Aptos"/>
              </a:rPr>
              <a:t>Innovate  |  Build  |  Solve  |  A Stronger Bharat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382512"/>
            <a:ext cx="324612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900" b="0">
                <a:solidFill>
                  <a:srgbClr val="696775"/>
                </a:solidFill>
                <a:latin typeface="Aptos"/>
              </a:rPr>
              <a:t>Team Sparsha  •  RV University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67665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68580" cy="2194560"/>
          </a:xfrm>
          <a:prstGeom prst="rect">
            <a:avLst/>
          </a:prstGeom>
          <a:solidFill>
            <a:srgbClr val="5B2278"/>
          </a:solidFill>
          <a:ln>
            <a:solidFill>
              <a:srgbClr val="5B2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1847088"/>
            <a:ext cx="644652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Solution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212848"/>
            <a:ext cx="6446520" cy="15000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IN" sz="1400" b="1">
                <a:solidFill>
                  <a:srgbClr val="2D2B39"/>
                </a:solidFill>
                <a:latin typeface="Aptos"/>
                <a:cs typeface="Aptos"/>
              </a:rPr>
              <a:t>Touch-detecting smartwatch: </a:t>
            </a:r>
            <a:r>
              <a:rPr lang="en-IN" sz="1400" b="0">
                <a:solidFill>
                  <a:srgbClr val="2D2B39"/>
                </a:solidFill>
                <a:latin typeface="Aptos"/>
                <a:cs typeface="Aptos"/>
              </a:rPr>
              <a:t>senses another person's touch on her</a:t>
            </a:r>
          </a:p>
          <a:p>
            <a:pPr marL="228600" indent="-228600">
              <a:buFont typeface="Arial"/>
              <a:buChar char="•"/>
            </a:pPr>
            <a:r>
              <a:rPr lang="en-IN" sz="1400" b="1">
                <a:solidFill>
                  <a:srgbClr val="2D2B39"/>
                </a:solidFill>
                <a:latin typeface="Aptos"/>
                <a:cs typeface="Aptos"/>
              </a:rPr>
              <a:t>Normal mode: </a:t>
            </a:r>
            <a:r>
              <a:rPr lang="en-IN" sz="1400" b="0">
                <a:solidFill>
                  <a:srgbClr val="2D2B39"/>
                </a:solidFill>
                <a:latin typeface="Aptos"/>
                <a:cs typeface="Aptos"/>
              </a:rPr>
              <a:t>an everyday watch; touches raise no alarm</a:t>
            </a:r>
          </a:p>
          <a:p>
            <a:pPr marL="228600" indent="-228600">
              <a:buFont typeface="Arial"/>
              <a:buChar char="•"/>
            </a:pPr>
            <a:r>
              <a:rPr lang="en-IN" sz="1400" b="1">
                <a:solidFill>
                  <a:srgbClr val="2D2B39"/>
                </a:solidFill>
                <a:latin typeface="Aptos"/>
                <a:cs typeface="Aptos"/>
              </a:rPr>
              <a:t>Guard Mode: </a:t>
            </a:r>
            <a:r>
              <a:rPr lang="en-IN" sz="1400" b="0">
                <a:solidFill>
                  <a:srgbClr val="2D2B39"/>
                </a:solidFill>
                <a:latin typeface="Aptos"/>
                <a:cs typeface="Aptos"/>
              </a:rPr>
              <a:t>a stranger's grab or a struggle starts a 15 s PIN countdown; mic on</a:t>
            </a:r>
          </a:p>
          <a:p>
            <a:pPr marL="228600" indent="-228600">
              <a:buFont typeface="Arial"/>
              <a:buChar char="•"/>
            </a:pPr>
            <a:r>
              <a:rPr lang="en-IN" sz="1400" b="1">
                <a:solidFill>
                  <a:srgbClr val="2D2B39"/>
                </a:solidFill>
                <a:latin typeface="Aptos"/>
                <a:cs typeface="Aptos"/>
              </a:rPr>
              <a:t>Real PIN: </a:t>
            </a:r>
            <a:r>
              <a:rPr lang="en-IN" sz="1400" b="0">
                <a:solidFill>
                  <a:srgbClr val="2D2B39"/>
                </a:solidFill>
                <a:latin typeface="Aptos"/>
                <a:cs typeface="Aptos"/>
              </a:rPr>
              <a:t>cancels the alert and deletes the recording</a:t>
            </a:r>
          </a:p>
          <a:p>
            <a:pPr marL="228600" indent="-228600">
              <a:buFont typeface="Arial"/>
              <a:buChar char="•"/>
            </a:pPr>
            <a:r>
              <a:rPr lang="en-IN" sz="1400" b="1">
                <a:solidFill>
                  <a:srgbClr val="2D2B39"/>
                </a:solidFill>
                <a:latin typeface="Aptos"/>
                <a:cs typeface="Aptos"/>
              </a:rPr>
              <a:t>Duress PIN: </a:t>
            </a:r>
            <a:r>
              <a:rPr lang="en-IN" sz="1400" b="0">
                <a:solidFill>
                  <a:srgbClr val="2D2B39"/>
                </a:solidFill>
                <a:latin typeface="Aptos"/>
                <a:cs typeface="Aptos"/>
              </a:rPr>
              <a:t>shows "Cancelled" but alerts her contact silently</a:t>
            </a:r>
          </a:p>
          <a:p>
            <a:pPr marL="228600" indent="-228600">
              <a:buFont typeface="Arial"/>
              <a:buChar char="•"/>
            </a:pPr>
            <a:r>
              <a:rPr lang="en-IN" sz="1400" b="1">
                <a:solidFill>
                  <a:srgbClr val="2D2B39"/>
                </a:solidFill>
                <a:latin typeface="Aptos"/>
                <a:cs typeface="Aptos"/>
              </a:rPr>
              <a:t>No PIN: </a:t>
            </a:r>
            <a:r>
              <a:rPr lang="en-IN" sz="1400" b="0">
                <a:solidFill>
                  <a:srgbClr val="2D2B39"/>
                </a:solidFill>
                <a:latin typeface="Aptos"/>
                <a:cs typeface="Aptos"/>
              </a:rPr>
              <a:t>SMS + GPS + voice recording sent, 112 called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37360"/>
            <a:ext cx="39319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1737360"/>
            <a:ext cx="68580" cy="2194560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19" y="1847088"/>
            <a:ext cx="3611879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Key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19" y="2212848"/>
            <a:ext cx="3611879" cy="126187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500" b="0">
                <a:solidFill>
                  <a:srgbClr val="2D2B39"/>
                </a:solidFill>
                <a:latin typeface="Aptos"/>
              </a:rPr>
              <a:t>Two bodies share static charge the instant they touch. The watch feels that jump, so her own hand, a metal pole or a phone never count as a person.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39"/>
            <a:ext cx="32004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1">
                <a:solidFill>
                  <a:srgbClr val="191B5C"/>
                </a:solidFill>
                <a:latin typeface="Aptos"/>
              </a:rPr>
              <a:t>KEY BENEFITS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6344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663440"/>
            <a:ext cx="68580" cy="1051560"/>
          </a:xfrm>
          <a:prstGeom prst="rect">
            <a:avLst/>
          </a:prstGeom>
          <a:solidFill>
            <a:srgbClr val="5B2278"/>
          </a:solidFill>
          <a:ln>
            <a:solidFill>
              <a:srgbClr val="5B2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773168"/>
            <a:ext cx="3154679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01  Hands-free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38927"/>
            <a:ext cx="3154679" cy="48463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300" b="0">
                <a:solidFill>
                  <a:srgbClr val="2D2B39"/>
                </a:solidFill>
                <a:latin typeface="Aptos"/>
              </a:rPr>
              <a:t>No phone, no button: she only acts to cancel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66344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60" y="4663440"/>
            <a:ext cx="68580" cy="1051560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4773168"/>
            <a:ext cx="3154679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02  Discreet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138927"/>
            <a:ext cx="3154679" cy="48463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300" b="0">
                <a:solidFill>
                  <a:srgbClr val="2D2B39"/>
                </a:solidFill>
                <a:latin typeface="Aptos"/>
              </a:rPr>
              <a:t>A duress PIN looks like a normal cancel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66344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75320" y="4663440"/>
            <a:ext cx="68580" cy="1051560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58200" y="4773168"/>
            <a:ext cx="3154679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03  Grounded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5138927"/>
            <a:ext cx="3154679" cy="48463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300" b="0">
                <a:solidFill>
                  <a:srgbClr val="2D2B39"/>
                </a:solidFill>
                <a:latin typeface="Aptos"/>
              </a:rPr>
              <a:t>Physics from 60 sources, checked with SPICE + FastCap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8CDA1B1-793F-FBFC-429B-CC538C335C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4" b="12718"/>
          <a:stretch>
            <a:fillRect/>
          </a:stretch>
        </p:blipFill>
        <p:spPr>
          <a:xfrm>
            <a:off x="324464" y="203980"/>
            <a:ext cx="1742768" cy="5559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57400" y="256032"/>
            <a:ext cx="722376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1">
                <a:solidFill>
                  <a:srgbClr val="191B5C"/>
                </a:solidFill>
                <a:latin typeface="Aptos"/>
              </a:rPr>
              <a:t>BHARATH INNOVATE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4864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1100" b="1">
                <a:solidFill>
                  <a:srgbClr val="5B227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500" b="1">
                <a:solidFill>
                  <a:srgbClr val="191B5C"/>
                </a:solidFill>
                <a:latin typeface="Aptos"/>
              </a:rPr>
              <a:t>Architecture &amp;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58368" cy="4114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68580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00" b="1">
                <a:solidFill>
                  <a:srgbClr val="696775"/>
                </a:solidFill>
                <a:latin typeface="Aptos"/>
              </a:rPr>
              <a:t>Innovate  |  Build  |  Solve  |  A Stronger Bharat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382512"/>
            <a:ext cx="324612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900" b="0">
                <a:solidFill>
                  <a:srgbClr val="696775"/>
                </a:solidFill>
                <a:latin typeface="Aptos"/>
              </a:rPr>
              <a:t>Team Sparsha  •  RV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274320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300" b="1">
                <a:solidFill>
                  <a:srgbClr val="5B2278"/>
                </a:solidFill>
                <a:latin typeface="Aptos"/>
              </a:rPr>
              <a:t>SYSTEM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23317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304288"/>
            <a:ext cx="210312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>
                <a:solidFill>
                  <a:srgbClr val="191B5C"/>
                </a:solidFill>
                <a:latin typeface="Aptos"/>
              </a:rPr>
              <a:t>SENSE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651760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696775"/>
                </a:solidFill>
                <a:latin typeface="Aptos"/>
              </a:rPr>
              <a:t>Touch, static, motion, heart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468880"/>
            <a:ext cx="38404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200" b="1">
                <a:solidFill>
                  <a:srgbClr val="FFC41E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148840"/>
            <a:ext cx="23317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75887" y="2304288"/>
            <a:ext cx="210312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>
                <a:solidFill>
                  <a:srgbClr val="191B5C"/>
                </a:solidFill>
                <a:latin typeface="Aptos"/>
              </a:rPr>
              <a:t>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651760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696775"/>
                </a:solidFill>
                <a:latin typeface="Aptos"/>
              </a:rPr>
              <a:t>Another body, pulling or struggle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1888" y="2468880"/>
            <a:ext cx="38404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200" b="1">
                <a:solidFill>
                  <a:srgbClr val="FFC41E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148840"/>
            <a:ext cx="23317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8" y="2304288"/>
            <a:ext cx="210312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>
                <a:solidFill>
                  <a:srgbClr val="191B5C"/>
                </a:solidFill>
                <a:latin typeface="Aptos"/>
              </a:rP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2651760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696775"/>
                </a:solidFill>
                <a:latin typeface="Aptos"/>
              </a:rPr>
              <a:t>PIN · duress · strap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2468880"/>
            <a:ext cx="384048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200" b="1">
                <a:solidFill>
                  <a:srgbClr val="FFC41E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148840"/>
            <a:ext cx="23317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36607" y="2304288"/>
            <a:ext cx="210312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>
                <a:solidFill>
                  <a:srgbClr val="191B5C"/>
                </a:solidFill>
                <a:latin typeface="Aptos"/>
              </a:rPr>
              <a:t>ALERT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7" y="2651760"/>
            <a:ext cx="210312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0">
                <a:solidFill>
                  <a:srgbClr val="696775"/>
                </a:solidFill>
                <a:latin typeface="Aptos"/>
              </a:rPr>
              <a:t>SMS · GPS · voice · 112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79476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3794760"/>
            <a:ext cx="68580" cy="1737360"/>
          </a:xfrm>
          <a:prstGeom prst="rect">
            <a:avLst/>
          </a:prstGeom>
          <a:solidFill>
            <a:srgbClr val="5B2278"/>
          </a:solidFill>
          <a:ln>
            <a:solidFill>
              <a:srgbClr val="5B2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3904488"/>
            <a:ext cx="493776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Technology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270248"/>
            <a:ext cx="4937760" cy="98755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400" b="1">
                <a:solidFill>
                  <a:srgbClr val="2D2B39"/>
                </a:solidFill>
                <a:latin typeface="Aptos"/>
              </a:rPr>
              <a:t xml:space="preserve">Sensing: </a:t>
            </a:r>
            <a:r>
              <a:rPr sz="1400" b="0">
                <a:solidFill>
                  <a:srgbClr val="2D2B39"/>
                </a:solidFill>
                <a:latin typeface="Aptos"/>
              </a:rPr>
              <a:t>Touché sweep, static channel, accelerometer, gyroscope, heart rate, mic</a:t>
            </a:r>
          </a:p>
          <a:p>
            <a:pPr algn="l"/>
            <a:r>
              <a:rPr sz="1400" b="1">
                <a:solidFill>
                  <a:srgbClr val="2D2B39"/>
                </a:solidFill>
                <a:latin typeface="Aptos"/>
              </a:rPr>
              <a:t xml:space="preserve">Model: </a:t>
            </a:r>
            <a:r>
              <a:rPr sz="1400" b="0">
                <a:solidFill>
                  <a:srgbClr val="2D2B39"/>
                </a:solidFill>
                <a:latin typeface="Aptos"/>
              </a:rPr>
              <a:t>Python (NumPy, SciPy), SVM, random forest</a:t>
            </a:r>
          </a:p>
          <a:p>
            <a:pPr algn="l"/>
            <a:r>
              <a:rPr sz="1400" b="1">
                <a:solidFill>
                  <a:srgbClr val="2D2B39"/>
                </a:solidFill>
                <a:latin typeface="Aptos"/>
              </a:rPr>
              <a:t xml:space="preserve">Checks: </a:t>
            </a:r>
            <a:r>
              <a:rPr sz="1400" b="0">
                <a:solidFill>
                  <a:srgbClr val="2D2B39"/>
                </a:solidFill>
                <a:latin typeface="Aptos"/>
              </a:rPr>
              <a:t xml:space="preserve">ngspice, MIT FastCap  ·  </a:t>
            </a:r>
            <a:r>
              <a:rPr sz="1400" b="1">
                <a:solidFill>
                  <a:srgbClr val="2D2B39"/>
                </a:solidFill>
                <a:latin typeface="Aptos"/>
              </a:rPr>
              <a:t xml:space="preserve">Demo: </a:t>
            </a:r>
            <a:r>
              <a:rPr sz="1400" b="0">
                <a:solidFill>
                  <a:srgbClr val="2D2B39"/>
                </a:solidFill>
                <a:latin typeface="Aptos"/>
              </a:rPr>
              <a:t>HTML / JS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94760"/>
            <a:ext cx="5257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3794760"/>
            <a:ext cx="68580" cy="1737360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904488"/>
            <a:ext cx="493776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Why these technologies?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70248"/>
            <a:ext cx="4937760" cy="12500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n-IN" sz="1400" b="0">
                <a:solidFill>
                  <a:srgbClr val="2D2B39"/>
                </a:solidFill>
                <a:latin typeface="Aptos"/>
                <a:cs typeface="Aptos"/>
              </a:rPr>
              <a:t>Low-cost parts, battery-powered</a:t>
            </a:r>
          </a:p>
          <a:p>
            <a:pPr marL="228600" indent="-228600">
              <a:buFont typeface="Arial"/>
              <a:buChar char="•"/>
            </a:pPr>
            <a:r>
              <a:rPr lang="en-IN" sz="1400" b="0">
                <a:solidFill>
                  <a:srgbClr val="2D2B39"/>
                </a:solidFill>
                <a:latin typeface="Aptos"/>
                <a:cs typeface="Aptos"/>
              </a:rPr>
              <a:t>Every decision made on the watch itself</a:t>
            </a:r>
          </a:p>
          <a:p>
            <a:pPr marL="228600" indent="-228600">
              <a:buFont typeface="Arial"/>
              <a:buChar char="•"/>
            </a:pPr>
            <a:r>
              <a:rPr lang="en-IN" sz="1400" b="0">
                <a:solidFill>
                  <a:srgbClr val="2D2B39"/>
                </a:solidFill>
                <a:latin typeface="Aptos"/>
                <a:cs typeface="Aptos"/>
              </a:rPr>
              <a:t>Each value traced to a published source (60 logged)</a:t>
            </a:r>
          </a:p>
          <a:p>
            <a:pPr marL="228600" indent="-228600">
              <a:buFont typeface="Arial"/>
              <a:buChar char="•"/>
            </a:pPr>
            <a:r>
              <a:rPr lang="en-IN" sz="1400" b="0">
                <a:solidFill>
                  <a:srgbClr val="2D2B39"/>
                </a:solidFill>
                <a:latin typeface="Aptos"/>
                <a:cs typeface="Aptos"/>
              </a:rPr>
              <a:t>Physics cross-checked by two solvers (ngspice, FastCap)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8E86637-C615-FC3B-0E6F-0AA6FAA445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4" b="12718"/>
          <a:stretch>
            <a:fillRect/>
          </a:stretch>
        </p:blipFill>
        <p:spPr>
          <a:xfrm>
            <a:off x="314632" y="203980"/>
            <a:ext cx="1742768" cy="5559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57400" y="256032"/>
            <a:ext cx="722376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1">
                <a:solidFill>
                  <a:srgbClr val="191B5C"/>
                </a:solidFill>
                <a:latin typeface="Aptos"/>
              </a:rPr>
              <a:t>BHARATH INNOVATE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4864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1100" b="1">
                <a:solidFill>
                  <a:srgbClr val="5B227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500" b="1">
                <a:solidFill>
                  <a:srgbClr val="191B5C"/>
                </a:solidFill>
                <a:latin typeface="Aptos"/>
              </a:rPr>
              <a:t>Prototype &amp; Demonstration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58368" cy="4114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68580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00" b="1">
                <a:solidFill>
                  <a:srgbClr val="696775"/>
                </a:solidFill>
                <a:latin typeface="Aptos"/>
              </a:rPr>
              <a:t>Innovate  |  Build  |  Solve  |  A Stronger Bharat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382512"/>
            <a:ext cx="324612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900" b="0">
                <a:solidFill>
                  <a:srgbClr val="696775"/>
                </a:solidFill>
                <a:latin typeface="Aptos"/>
              </a:rPr>
              <a:t>Team Sparsha  •  RV University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3276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737360"/>
            <a:ext cx="68580" cy="4297680"/>
          </a:xfrm>
          <a:prstGeom prst="rect">
            <a:avLst/>
          </a:prstGeom>
          <a:solidFill>
            <a:srgbClr val="5B2278"/>
          </a:solidFill>
          <a:ln>
            <a:solidFill>
              <a:srgbClr val="5B2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1847088"/>
            <a:ext cx="2930240" cy="4097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>
              <a:buNone/>
            </a:pPr>
            <a:r>
              <a:rPr lang="en-IN" sz="1200" b="1">
                <a:solidFill>
                  <a:srgbClr val="191B5C"/>
                </a:solidFill>
                <a:latin typeface="Aptos"/>
                <a:cs typeface="Aptos"/>
              </a:rPr>
              <a:t>Feature 01 · Digital twin</a:t>
            </a:r>
          </a:p>
          <a:p>
            <a:pPr marL="228600" indent="-228600">
              <a:buFont typeface="Arial"/>
              <a:buChar char="•"/>
            </a:pP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The watch's own firmware on a simulated sensor</a:t>
            </a:r>
          </a:p>
          <a:p>
            <a:pPr marL="228600" indent="-228600">
              <a:buFont typeface="Arial"/>
              <a:buChar char="•"/>
            </a:pP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Sensors: frequency sweep, body static (500 Hz), accelerometer, gyroscope, heart rate</a:t>
            </a:r>
          </a:p>
          <a:p>
            <a:pPr marL="228600" indent="-228600">
              <a:buFont typeface="Arial"/>
              <a:buChar char="•"/>
            </a:pP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Guided story + try-it mode: grabs, struggle, running, PIN, duress, strap removal</a:t>
            </a:r>
          </a:p>
          <a:p>
            <a:pPr>
              <a:spcBef>
                <a:spcPts val="900"/>
              </a:spcBef>
              <a:buNone/>
            </a:pPr>
            <a:r>
              <a:rPr lang="en-IN" sz="1200" b="1">
                <a:solidFill>
                  <a:srgbClr val="191B5C"/>
                </a:solidFill>
                <a:latin typeface="Aptos"/>
                <a:cs typeface="Aptos"/>
              </a:rPr>
              <a:t>Feature 02 · Validated physics</a:t>
            </a:r>
          </a:p>
          <a:p>
            <a:pPr marL="228600" indent="-228600">
              <a:buFont typeface="Arial"/>
              <a:buChar char="•"/>
            </a:pP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Values from 60 published sources</a:t>
            </a:r>
          </a:p>
          <a:p>
            <a:pPr marL="228600" indent="-228600">
              <a:buFont typeface="Arial"/>
              <a:buChar char="•"/>
            </a:pP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Circuit matches SPICE to 0.0001 %; 3D field matches MIT FastCap within 1 %</a:t>
            </a:r>
          </a:p>
          <a:p>
            <a:pPr marL="228600" indent="-228600">
              <a:buFont typeface="Arial"/>
              <a:buChar char="•"/>
            </a:pP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70 % of grabs over 7 body places (13 % before); 99 % of struggles</a:t>
            </a:r>
          </a:p>
          <a:p>
            <a:pPr marL="228600" indent="-228600">
              <a:buFont typeface="Arial"/>
              <a:buChar char="•"/>
            </a:pP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0–1 unwanted prompts in 9 simulated hours</a:t>
            </a:r>
          </a:p>
          <a:p>
            <a:pPr>
              <a:spcBef>
                <a:spcPts val="900"/>
              </a:spcBef>
              <a:buNone/>
            </a:pPr>
            <a:r>
              <a:rPr lang="en-IN" sz="1200" b="1">
                <a:solidFill>
                  <a:srgbClr val="191B5C"/>
                </a:solidFill>
                <a:latin typeface="Aptos"/>
                <a:cs typeface="Aptos"/>
              </a:rPr>
              <a:t>Try it</a:t>
            </a:r>
          </a:p>
          <a:p>
            <a:pPr>
              <a:buNone/>
            </a:pP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bhajanth13.github.io/SparshaGuard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1800" y="1737360"/>
            <a:ext cx="3276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61800" y="1737360"/>
            <a:ext cx="68580" cy="4297680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4680" y="1847088"/>
            <a:ext cx="2930240" cy="409768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>
              <a:buNone/>
            </a:pPr>
            <a:r>
              <a:rPr lang="en-IN" sz="1200" b="1">
                <a:solidFill>
                  <a:srgbClr val="191B5C"/>
                </a:solidFill>
                <a:latin typeface="Aptos"/>
                <a:cs typeface="Aptos"/>
              </a:rPr>
              <a:t>What the screenshot shows</a:t>
            </a:r>
          </a:p>
          <a:p>
            <a:pPr marL="228600" indent="-228600">
              <a:buFont typeface="Arial"/>
              <a:buChar char="•"/>
            </a:pPr>
            <a:r>
              <a:rPr lang="en-IN" sz="1200" b="1">
                <a:solidFill>
                  <a:srgbClr val="2D2B39"/>
                </a:solidFill>
                <a:latin typeface="Aptos"/>
                <a:cs typeface="Aptos"/>
              </a:rPr>
              <a:t>Moment: </a:t>
            </a: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Guard Mode on; a stranger grabs her wrist</a:t>
            </a:r>
          </a:p>
          <a:p>
            <a:pPr marL="228600" indent="-228600">
              <a:buFont typeface="Arial"/>
              <a:buChar char="•"/>
            </a:pPr>
            <a:r>
              <a:rPr lang="en-IN" sz="1200" b="1">
                <a:solidFill>
                  <a:srgbClr val="2D2B39"/>
                </a:solidFill>
                <a:latin typeface="Aptos"/>
                <a:cs typeface="Aptos"/>
              </a:rPr>
              <a:t>Watch face: </a:t>
            </a: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asks for her PIN, 11 s of 15 left; red dot = mic recording</a:t>
            </a:r>
          </a:p>
          <a:p>
            <a:pPr marL="228600" indent="-228600">
              <a:buFont typeface="Arial"/>
              <a:buChar char="•"/>
            </a:pPr>
            <a:r>
              <a:rPr lang="en-IN" sz="1200" b="1">
                <a:solidFill>
                  <a:srgbClr val="2D2B39"/>
                </a:solidFill>
                <a:latin typeface="Aptos"/>
                <a:cs typeface="Aptos"/>
              </a:rPr>
              <a:t>Orange ring: </a:t>
            </a: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the PIN countdown</a:t>
            </a:r>
          </a:p>
          <a:p>
            <a:pPr marL="228600" indent="-228600">
              <a:buFont typeface="Arial"/>
              <a:buChar char="•"/>
            </a:pPr>
            <a:r>
              <a:rPr lang="en-IN" sz="1200" b="1">
                <a:solidFill>
                  <a:srgbClr val="2D2B39"/>
                </a:solidFill>
                <a:latin typeface="Aptos"/>
                <a:cs typeface="Aptos"/>
              </a:rPr>
              <a:t>Sensor signal (log scale, last 30 s): </a:t>
            </a: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jumps from about 0.1 % to 16 %, far above the 0.3 % touch threshold (dashed); shaded = touch felt</a:t>
            </a:r>
          </a:p>
          <a:p>
            <a:pPr marL="228600" indent="-228600">
              <a:buFont typeface="Arial"/>
              <a:buChar char="•"/>
            </a:pPr>
            <a:r>
              <a:rPr lang="en-IN" sz="1200" b="1">
                <a:solidFill>
                  <a:srgbClr val="2D2B39"/>
                </a:solidFill>
                <a:latin typeface="Aptos"/>
                <a:cs typeface="Aptos"/>
              </a:rPr>
              <a:t>Static on her body: </a:t>
            </a: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the red line marks the instant another body touched her (charge shared); orange ticks = arm jerks from the pull</a:t>
            </a:r>
          </a:p>
          <a:p>
            <a:pPr marL="228600" indent="-228600">
              <a:buFont typeface="Arial"/>
              <a:buChar char="•"/>
            </a:pPr>
            <a:r>
              <a:rPr lang="en-IN" sz="1200" b="1">
                <a:solidFill>
                  <a:srgbClr val="2D2B39"/>
                </a:solidFill>
                <a:latin typeface="Aptos"/>
                <a:cs typeface="Aptos"/>
              </a:rPr>
              <a:t>Decision: </a:t>
            </a:r>
            <a:r>
              <a:rPr lang="en-IN" sz="1200" b="0">
                <a:solidFill>
                  <a:srgbClr val="2D2B39"/>
                </a:solidFill>
                <a:latin typeface="Aptos"/>
                <a:cs typeface="Aptos"/>
              </a:rPr>
              <a:t>touch held 2 s + another body = PIN prompt; no PIN in 15 s sends the alert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7800" y="1737360"/>
            <a:ext cx="3883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20680" y="1797360"/>
            <a:ext cx="351788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>
                <a:solidFill>
                  <a:srgbClr val="191B5C"/>
                </a:solidFill>
                <a:latin typeface="Aptos"/>
              </a:rPr>
              <a:t>SCREENSHOT · DIGITAL TWIN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63CD1D4-3436-94EE-3465-AD79359F2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4" b="12718"/>
          <a:stretch>
            <a:fillRect/>
          </a:stretch>
        </p:blipFill>
        <p:spPr>
          <a:xfrm>
            <a:off x="314632" y="203980"/>
            <a:ext cx="1742768" cy="555994"/>
          </a:xfrm>
          <a:prstGeom prst="rect">
            <a:avLst/>
          </a:prstGeom>
        </p:spPr>
      </p:pic>
      <p:pic>
        <p:nvPicPr>
          <p:cNvPr id="26" name="Demo screenshot" descr="s5_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491" y="2067360"/>
            <a:ext cx="3606258" cy="374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57400" y="256032"/>
            <a:ext cx="722376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1">
                <a:solidFill>
                  <a:srgbClr val="191B5C"/>
                </a:solidFill>
                <a:latin typeface="Aptos"/>
              </a:rPr>
              <a:t>BHARATH INNOVATE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4864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1100" b="1">
                <a:solidFill>
                  <a:srgbClr val="5B227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500" b="1">
                <a:solidFill>
                  <a:srgbClr val="191B5C"/>
                </a:solidFill>
                <a:latin typeface="Aptos"/>
              </a:rPr>
              <a:t>Feasibility &amp; Risk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58368" cy="4114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68580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00" b="1">
                <a:solidFill>
                  <a:srgbClr val="696775"/>
                </a:solidFill>
                <a:latin typeface="Aptos"/>
              </a:rPr>
              <a:t>Innovate  |  Build  |  Solve  |  A Stronger Bharat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382512"/>
            <a:ext cx="324612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900" b="0">
                <a:solidFill>
                  <a:srgbClr val="696775"/>
                </a:solidFill>
                <a:latin typeface="Aptos"/>
              </a:rPr>
              <a:t>Team Sparsha  •  RV University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68580" cy="1600200"/>
          </a:xfrm>
          <a:prstGeom prst="rect">
            <a:avLst/>
          </a:prstGeom>
          <a:solidFill>
            <a:srgbClr val="5B2278"/>
          </a:solidFill>
          <a:ln>
            <a:solidFill>
              <a:srgbClr val="5B2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1847088"/>
            <a:ext cx="32004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Technical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212848"/>
            <a:ext cx="3200400" cy="103327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400" b="0">
                <a:solidFill>
                  <a:srgbClr val="2D2B39"/>
                </a:solidFill>
                <a:latin typeface="Aptos"/>
              </a:rPr>
              <a:t>Off-the-shelf parts: ESP32, LC tank, electrode, ADS1115, motion sensor, heart-rate sensor, mic. Detection logic is written and tested.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3736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1737360"/>
            <a:ext cx="68580" cy="1600200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1847088"/>
            <a:ext cx="32004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Operational viability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12848"/>
            <a:ext cx="3200400" cy="103327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400" b="0">
                <a:solidFill>
                  <a:srgbClr val="2D2B39"/>
                </a:solidFill>
                <a:latin typeface="Aptos"/>
              </a:rPr>
              <a:t>Battery-powered; all decisions on the watch. Alerts over 4G LTE Cat-1, since 2G is being shut down.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3736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737360"/>
            <a:ext cx="68580" cy="1600200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2004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Market viability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12848"/>
            <a:ext cx="3200400" cy="103327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400" b="0">
                <a:solidFill>
                  <a:srgbClr val="2D2B39"/>
                </a:solidFill>
                <a:latin typeface="Aptos"/>
              </a:rPr>
              <a:t>Women commuters, students, night-shift workers and their families. Unlike SOS apps, she needs no action.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03320"/>
            <a:ext cx="53492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703320"/>
            <a:ext cx="68580" cy="1554480"/>
          </a:xfrm>
          <a:prstGeom prst="rect">
            <a:avLst/>
          </a:prstGeom>
          <a:solidFill>
            <a:srgbClr val="5B2278"/>
          </a:solidFill>
          <a:ln>
            <a:solidFill>
              <a:srgbClr val="5B2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3813048"/>
            <a:ext cx="50292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Main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178808"/>
            <a:ext cx="5029200" cy="98755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400" b="0">
                <a:solidFill>
                  <a:srgbClr val="2D2B39"/>
                </a:solidFill>
                <a:latin typeface="Aptos"/>
              </a:rPr>
              <a:t>Simulated, not yet measured. Static charge on Indian floors and struggle-motion thresholds are estimates; a grab that only holds can be missed.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03320"/>
            <a:ext cx="53492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3703320"/>
            <a:ext cx="68580" cy="1554480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813048"/>
            <a:ext cx="50292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Mitigation / 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78808"/>
            <a:ext cx="5029200" cy="98755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400" b="0">
                <a:solidFill>
                  <a:srgbClr val="2D2B39"/>
                </a:solidFill>
                <a:latin typeface="Aptos"/>
              </a:rPr>
              <a:t>A battery prototype (Gate 1) measures body voltages and staged-struggle motion. The wrist sweep still catches wrist grabs; the PIN handles friendly touches.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18273AC-FA8D-BB98-BE39-D900A13B46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4" b="12718"/>
          <a:stretch>
            <a:fillRect/>
          </a:stretch>
        </p:blipFill>
        <p:spPr>
          <a:xfrm>
            <a:off x="314632" y="203980"/>
            <a:ext cx="1742768" cy="5559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57400" y="256032"/>
            <a:ext cx="722376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1">
                <a:solidFill>
                  <a:srgbClr val="191B5C"/>
                </a:solidFill>
                <a:latin typeface="Aptos"/>
              </a:rPr>
              <a:t>BHARATH INNOVATE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4864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1100" b="1">
                <a:solidFill>
                  <a:srgbClr val="5B227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500" b="1">
                <a:solidFill>
                  <a:srgbClr val="191B5C"/>
                </a:solidFill>
                <a:latin typeface="Aptos"/>
              </a:rPr>
              <a:t>Impact, Business Model &amp;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58368" cy="4114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68580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00" b="1">
                <a:solidFill>
                  <a:srgbClr val="696775"/>
                </a:solidFill>
                <a:latin typeface="Aptos"/>
              </a:rPr>
              <a:t>Innovate  |  Build  |  Solve  |  A Stronger Bharat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382512"/>
            <a:ext cx="324612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900" b="0">
                <a:solidFill>
                  <a:srgbClr val="696775"/>
                </a:solidFill>
                <a:latin typeface="Aptos"/>
              </a:rPr>
              <a:t>Team Sparsha  •  RV University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68580" cy="1737360"/>
          </a:xfrm>
          <a:prstGeom prst="rect">
            <a:avLst/>
          </a:prstGeom>
          <a:solidFill>
            <a:srgbClr val="5B2278"/>
          </a:solidFill>
          <a:ln>
            <a:solidFill>
              <a:srgbClr val="5B2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1847088"/>
            <a:ext cx="32004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212848"/>
            <a:ext cx="3200400" cy="117043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400" b="0">
                <a:solidFill>
                  <a:srgbClr val="2D2B39"/>
                </a:solidFill>
                <a:latin typeface="Aptos"/>
              </a:rPr>
              <a:t>Help is called even when she can't reach her phone. Live location and audio give family and police something to act 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3736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1737360"/>
            <a:ext cx="68580" cy="1737360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1847088"/>
            <a:ext cx="32004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Business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12848"/>
            <a:ext cx="3200400" cy="117043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400" b="0">
                <a:solidFill>
                  <a:srgbClr val="2D2B39"/>
                </a:solidFill>
                <a:latin typeface="Aptos"/>
              </a:rPr>
              <a:t>Watch sold to individuals; bulk plans for colleges, hostels and employers; optional alert-service subscription.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37360"/>
            <a:ext cx="3520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737360"/>
            <a:ext cx="68580" cy="1737360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2004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Success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12848"/>
            <a:ext cx="3200400" cy="117043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400" b="0">
                <a:solidFill>
                  <a:srgbClr val="2D2B39"/>
                </a:solidFill>
                <a:latin typeface="Aptos"/>
              </a:rPr>
              <a:t>≥ 90 % of wrist grabs and ≥ 60 % anywhere on hardware · &lt; 1 unwanted prompt a day · alert within 20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77639"/>
            <a:ext cx="365760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1">
                <a:solidFill>
                  <a:srgbClr val="191B5C"/>
                </a:solidFill>
                <a:latin typeface="Aptos"/>
              </a:rPr>
              <a:t>FUTURE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805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590288"/>
            <a:ext cx="77724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200" b="1">
                <a:solidFill>
                  <a:srgbClr val="5B2278"/>
                </a:solidFill>
                <a:latin typeface="Aptos"/>
              </a:rPr>
              <a:t>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572000"/>
            <a:ext cx="2377440" cy="5029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200" b="0">
                <a:solidFill>
                  <a:srgbClr val="2D2B39"/>
                </a:solidFill>
                <a:latin typeface="Aptos"/>
              </a:rPr>
              <a:t>Validated model + digital twin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44805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4590288"/>
            <a:ext cx="77724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200" b="1">
                <a:solidFill>
                  <a:srgbClr val="5B2278"/>
                </a:solidFill>
                <a:latin typeface="Aptos"/>
              </a:rPr>
              <a:t>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572000"/>
            <a:ext cx="2377440" cy="5029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200" b="0">
                <a:solidFill>
                  <a:srgbClr val="2D2B39"/>
                </a:solidFill>
                <a:latin typeface="Aptos"/>
              </a:rPr>
              <a:t>Battery prototype, field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44805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4590288"/>
            <a:ext cx="77724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200" b="1">
                <a:solidFill>
                  <a:srgbClr val="5B2278"/>
                </a:solidFill>
                <a:latin typeface="Aptos"/>
              </a:rPr>
              <a:t>LATER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572000"/>
            <a:ext cx="2377440" cy="5029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200" b="0">
                <a:solidFill>
                  <a:srgbClr val="2D2B39"/>
                </a:solidFill>
                <a:latin typeface="Aptos"/>
              </a:rPr>
              <a:t>Audio confirm, college pilot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4D92271-3D80-F7C7-038D-2F0283A685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4" b="12718"/>
          <a:stretch>
            <a:fillRect/>
          </a:stretch>
        </p:blipFill>
        <p:spPr>
          <a:xfrm>
            <a:off x="314632" y="203980"/>
            <a:ext cx="1742768" cy="5559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57400" y="256032"/>
            <a:ext cx="722376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000" b="1">
                <a:solidFill>
                  <a:srgbClr val="191B5C"/>
                </a:solidFill>
                <a:latin typeface="Aptos"/>
              </a:rPr>
              <a:t>BHARATH INNOVATE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256032"/>
            <a:ext cx="548640" cy="2743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1100" b="1">
                <a:solidFill>
                  <a:srgbClr val="5B2278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0881360" cy="47548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500" b="1">
                <a:solidFill>
                  <a:srgbClr val="191B5C"/>
                </a:solidFill>
                <a:latin typeface="Aptos"/>
              </a:rPr>
              <a:t>Team &amp; Responsibilities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58368" cy="41148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382512"/>
            <a:ext cx="685800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900" b="1">
                <a:solidFill>
                  <a:srgbClr val="696775"/>
                </a:solidFill>
                <a:latin typeface="Aptos"/>
              </a:rPr>
              <a:t>Innovate  |  Build  |  Solve  |  A Stronger Bharat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382512"/>
            <a:ext cx="324612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900" b="0">
                <a:solidFill>
                  <a:srgbClr val="696775"/>
                </a:solidFill>
                <a:latin typeface="Aptos"/>
              </a:rPr>
              <a:t>Team Sparsha  •  RV University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493776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191B5C"/>
                </a:solidFill>
                <a:latin typeface="Aptos"/>
              </a:rPr>
              <a:t>MEMBER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493776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5B2278"/>
                </a:solidFill>
                <a:latin typeface="Aptos"/>
              </a:rPr>
              <a:t>Bhajanth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493776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0">
                <a:solidFill>
                  <a:srgbClr val="696775"/>
                </a:solidFill>
                <a:latin typeface="Aptos"/>
              </a:rPr>
              <a:t>Co-developer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493776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191B5C"/>
                </a:solidFill>
                <a:latin typeface="Aptos"/>
              </a:rPr>
              <a:t>MEMBER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06040"/>
            <a:ext cx="493776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400" b="1">
                <a:solidFill>
                  <a:srgbClr val="5B2278"/>
                </a:solidFill>
                <a:latin typeface="Aptos"/>
              </a:rPr>
              <a:t>Sukruth A Chinnur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493776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100" b="0">
                <a:solidFill>
                  <a:srgbClr val="696775"/>
                </a:solidFill>
                <a:latin typeface="Aptos"/>
              </a:rPr>
              <a:t>Co-developer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6052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4160520"/>
            <a:ext cx="68580" cy="1188720"/>
          </a:xfrm>
          <a:prstGeom prst="rect">
            <a:avLst/>
          </a:prstGeom>
          <a:solidFill>
            <a:srgbClr val="5B2278"/>
          </a:solidFill>
          <a:ln>
            <a:solidFill>
              <a:srgbClr val="5B2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270248"/>
            <a:ext cx="489204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Mentor / institution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636008"/>
            <a:ext cx="4892040" cy="62179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300" b="0">
                <a:solidFill>
                  <a:srgbClr val="2D2B39"/>
                </a:solidFill>
                <a:latin typeface="Aptos"/>
              </a:rPr>
              <a:t>Dr. Shruthi P, Faculty Mentor</a:t>
            </a:r>
          </a:p>
          <a:p>
            <a:pPr algn="l"/>
            <a:r>
              <a:rPr sz="1300" b="0">
                <a:solidFill>
                  <a:srgbClr val="2D2B39"/>
                </a:solidFill>
                <a:latin typeface="Aptos"/>
              </a:rPr>
              <a:t>RV University, Mysuru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16052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4160520"/>
            <a:ext cx="68580" cy="1188720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270248"/>
            <a:ext cx="4892040" cy="3200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500" b="1">
                <a:solidFill>
                  <a:srgbClr val="191B5C"/>
                </a:solidFill>
                <a:latin typeface="Aptos"/>
              </a:rPr>
              <a:t>Execution 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636008"/>
            <a:ext cx="4892040" cy="621792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/>
            <a:r>
              <a:rPr sz="1300" b="0">
                <a:solidFill>
                  <a:srgbClr val="2D2B39"/>
                </a:solidFill>
                <a:latin typeface="Aptos"/>
              </a:rPr>
              <a:t>Proposal → sourced physics → SPICE and FastCap checks → digital twin → static-charge fusion → Gate 1 prototype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EE4E774-0996-A8C0-7234-569673F7F7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4" b="12718"/>
          <a:stretch>
            <a:fillRect/>
          </a:stretch>
        </p:blipFill>
        <p:spPr>
          <a:xfrm>
            <a:off x="314632" y="203980"/>
            <a:ext cx="1742768" cy="5559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41E"/>
          </a:solidFill>
          <a:ln>
            <a:solidFill>
              <a:srgbClr val="FFC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8229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4200" b="1">
                <a:solidFill>
                  <a:srgbClr val="191B5C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2300" b="1">
                <a:solidFill>
                  <a:srgbClr val="5B2278"/>
                </a:solidFill>
                <a:latin typeface="Aptos"/>
              </a:rPr>
              <a:t>SparshaGuard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36576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600" b="0">
                <a:solidFill>
                  <a:srgbClr val="696775"/>
                </a:solidFill>
                <a:latin typeface="Aptos"/>
              </a:rPr>
              <a:t>Questions • Feedback • Collaboration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160520"/>
            <a:ext cx="6720840" cy="822960"/>
          </a:xfrm>
          <a:prstGeom prst="roundRect">
            <a:avLst/>
          </a:prstGeom>
          <a:solidFill>
            <a:srgbClr val="FAF9FC"/>
          </a:solidFill>
          <a:ln>
            <a:solidFill>
              <a:srgbClr val="E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4361688"/>
            <a:ext cx="6355080" cy="38404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300" b="1">
                <a:solidFill>
                  <a:srgbClr val="191B5C"/>
                </a:solidFill>
                <a:latin typeface="Aptos"/>
              </a:rPr>
              <a:t>Live: bhajanth13.github.io/SparshaGuard</a:t>
            </a:r>
          </a:p>
          <a:p>
            <a:pPr algn="ctr"/>
            <a:r>
              <a:rPr sz="1300" b="1">
                <a:solidFill>
                  <a:srgbClr val="191B5C"/>
                </a:solidFill>
                <a:latin typeface="Aptos"/>
              </a:rPr>
              <a:t>Code: github.com/Bhajanth13/SparshaGuard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91B5C"/>
          </a:solidFill>
          <a:ln>
            <a:solidFill>
              <a:srgbClr val="191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698480" cy="201168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BHARATH INNOVATE HACKATHON 2026  •  INNOVATE | BUILD | SOLVE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D285F2-FA50-7D9A-0841-712837BDA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4" b="12718"/>
          <a:stretch>
            <a:fillRect/>
          </a:stretch>
        </p:blipFill>
        <p:spPr>
          <a:xfrm>
            <a:off x="314632" y="203980"/>
            <a:ext cx="1742768" cy="5559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622</Words>
  <Application>Microsoft Office PowerPoint</Application>
  <PresentationFormat>Widescreen</PresentationFormat>
  <Paragraphs>132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BIH2026 Simple Presentation Template with EMATIX Logo</dc:title>
  <dc:subject>Simple, clean, editable hackathon project presentation</dc:subject>
  <dc:creator>EMATIX Embedded &amp; Software Solutions Pvt. Ltd.</dc:creator>
  <cp:keywords/>
  <dc:description>generated using python-pptx</dc:description>
  <cp:lastModifiedBy>Saran .S</cp:lastModifiedBy>
  <cp:revision>2</cp:revision>
  <dcterms:created xsi:type="dcterms:W3CDTF">2013-01-27T09:14:16Z</dcterms:created>
  <dcterms:modified xsi:type="dcterms:W3CDTF">2026-10-13T04:11:04Z</dcterms:modified>
  <cp:category/>
</cp:coreProperties>
</file>