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Demo" Type="http://schemas.openxmlformats.org/officeDocument/2006/relationships/image" Target="../media/demo_watch.png"/><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291072"/>
            <a:ext cx="12191695" cy="566928"/>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08760"/>
            <a:ext cx="7498079" cy="731520"/>
          </a:xfrm>
          <a:prstGeom prst="rect">
            <a:avLst/>
          </a:prstGeom>
          <a:noFill/>
        </p:spPr>
        <p:txBody>
          <a:bodyPr wrap="square" lIns="54864" tIns="18288" rIns="54864" bIns="18288" anchor="ctr">
            <a:spAutoFit/>
          </a:bodyPr>
          <a:lstStyle/>
          <a:p>
            <a:pPr algn="l"/>
            <a:r>
              <a:rPr sz="4200" b="1">
                <a:solidFill>
                  <a:srgbClr val="191B5C"/>
                </a:solidFill>
                <a:latin typeface="Aptos"/>
              </a:rPr>
              <a:t>BHARATH</a:t>
            </a:r>
          </a:p>
        </p:txBody>
      </p:sp>
      <p:sp>
        <p:nvSpPr>
          <p:cNvPr id="6" name="TextBox 5"/>
          <p:cNvSpPr txBox="1"/>
          <p:nvPr/>
        </p:nvSpPr>
        <p:spPr>
          <a:xfrm>
            <a:off x="731520" y="2240280"/>
            <a:ext cx="9692640" cy="658368"/>
          </a:xfrm>
          <a:prstGeom prst="rect">
            <a:avLst/>
          </a:prstGeom>
          <a:noFill/>
        </p:spPr>
        <p:txBody>
          <a:bodyPr wrap="square" lIns="54864" tIns="18288" rIns="54864" bIns="18288" anchor="ctr">
            <a:spAutoFit/>
          </a:bodyPr>
          <a:lstStyle/>
          <a:p>
            <a:pPr algn="l"/>
            <a:r>
              <a:rPr sz="3000" b="1">
                <a:solidFill>
                  <a:srgbClr val="5B2278"/>
                </a:solidFill>
                <a:latin typeface="Aptos"/>
              </a:rPr>
              <a:t>INNOVATE HACKATHON 2026</a:t>
            </a:r>
          </a:p>
        </p:txBody>
      </p:sp>
      <p:sp>
        <p:nvSpPr>
          <p:cNvPr id="7" name="TextBox 6"/>
          <p:cNvSpPr txBox="1"/>
          <p:nvPr/>
        </p:nvSpPr>
        <p:spPr>
          <a:xfrm>
            <a:off x="758952" y="3063240"/>
            <a:ext cx="7680960" cy="384048"/>
          </a:xfrm>
          <a:prstGeom prst="rect">
            <a:avLst/>
          </a:prstGeom>
          <a:noFill/>
        </p:spPr>
        <p:txBody>
          <a:bodyPr wrap="square" lIns="54864" tIns="18288" rIns="54864" bIns="18288" anchor="ctr">
            <a:spAutoFit/>
          </a:bodyPr>
          <a:lstStyle/>
          <a:p>
            <a:pPr algn="l"/>
            <a:r>
              <a:rPr sz="1600" b="1">
                <a:solidFill>
                  <a:srgbClr val="696775"/>
                </a:solidFill>
                <a:latin typeface="Aptos"/>
              </a:rPr>
              <a:t>BIH2026  |  PROJECT PRESENTATION</a:t>
            </a:r>
          </a:p>
        </p:txBody>
      </p:sp>
      <p:sp>
        <p:nvSpPr>
          <p:cNvPr id="8" name="Rectangle 7"/>
          <p:cNvSpPr/>
          <p:nvPr/>
        </p:nvSpPr>
        <p:spPr>
          <a:xfrm>
            <a:off x="777240" y="3675887"/>
            <a:ext cx="6949440" cy="4114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3977639"/>
            <a:ext cx="7680960" cy="502920"/>
          </a:xfrm>
          <a:prstGeom prst="rect">
            <a:avLst/>
          </a:prstGeom>
          <a:noFill/>
        </p:spPr>
        <p:txBody>
          <a:bodyPr wrap="square" lIns="54864" tIns="18288" rIns="54864" bIns="18288" anchor="ctr">
            <a:spAutoFit/>
          </a:bodyPr>
          <a:lstStyle/>
          <a:p>
            <a:pPr algn="l"/>
            <a:r>
              <a:rPr sz="2300" b="1">
                <a:solidFill>
                  <a:srgbClr val="191B5C"/>
                </a:solidFill>
                <a:latin typeface="Aptos"/>
              </a:rPr>
              <a:t>SparshaGuard</a:t>
            </a:r>
          </a:p>
        </p:txBody>
      </p:sp>
      <p:sp>
        <p:nvSpPr>
          <p:cNvPr id="10" name="TextBox 9"/>
          <p:cNvSpPr txBox="1"/>
          <p:nvPr/>
        </p:nvSpPr>
        <p:spPr>
          <a:xfrm>
            <a:off x="777240" y="4553712"/>
            <a:ext cx="7589520" cy="365760"/>
          </a:xfrm>
          <a:prstGeom prst="rect">
            <a:avLst/>
          </a:prstGeom>
          <a:noFill/>
        </p:spPr>
        <p:txBody>
          <a:bodyPr wrap="square" lIns="54864" tIns="18288" rIns="54864" bIns="18288" anchor="ctr">
            <a:spAutoFit/>
          </a:bodyPr>
          <a:lstStyle/>
          <a:p>
            <a:pPr algn="l"/>
            <a:r>
              <a:rPr sz="1600" b="0">
                <a:solidFill>
                  <a:srgbClr val="696775"/>
                </a:solidFill>
                <a:latin typeface="Aptos"/>
              </a:rPr>
              <a:t>A safety smartwatch where a stranger's touch raises the alarm</a:t>
            </a:r>
          </a:p>
        </p:txBody>
      </p:sp>
      <p:sp>
        <p:nvSpPr>
          <p:cNvPr id="11" name="Rounded Rectangle 10"/>
          <p:cNvSpPr/>
          <p:nvPr/>
        </p:nvSpPr>
        <p:spPr>
          <a:xfrm>
            <a:off x="8778240" y="1600200"/>
            <a:ext cx="2514600" cy="3063240"/>
          </a:xfrm>
          <a:prstGeom prst="roundRect">
            <a:avLst/>
          </a:prstGeom>
          <a:solidFill>
            <a:srgbClr val="FAF9FC"/>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79408" y="1847088"/>
            <a:ext cx="2103120" cy="320040"/>
          </a:xfrm>
          <a:prstGeom prst="rect">
            <a:avLst/>
          </a:prstGeom>
          <a:noFill/>
        </p:spPr>
        <p:txBody>
          <a:bodyPr wrap="square" lIns="54864" tIns="18288" rIns="54864" bIns="18288" anchor="ctr">
            <a:spAutoFit/>
          </a:bodyPr>
          <a:lstStyle/>
          <a:p>
            <a:pPr algn="ctr"/>
            <a:r>
              <a:rPr sz="1300" b="1">
                <a:solidFill>
                  <a:srgbClr val="5B2278"/>
                </a:solidFill>
                <a:latin typeface="Aptos"/>
              </a:rPr>
              <a:t>TEAM DETAILS</a:t>
            </a:r>
          </a:p>
        </p:txBody>
      </p:sp>
      <p:sp>
        <p:nvSpPr>
          <p:cNvPr id="13" name="TextBox 12"/>
          <p:cNvSpPr txBox="1"/>
          <p:nvPr/>
        </p:nvSpPr>
        <p:spPr>
          <a:xfrm>
            <a:off x="8979408" y="2395728"/>
            <a:ext cx="2103120" cy="384048"/>
          </a:xfrm>
          <a:prstGeom prst="rect">
            <a:avLst/>
          </a:prstGeom>
          <a:noFill/>
        </p:spPr>
        <p:txBody>
          <a:bodyPr wrap="square" lIns="54864" tIns="18288" rIns="54864" bIns="18288" anchor="ctr">
            <a:spAutoFit/>
          </a:bodyPr>
          <a:lstStyle/>
          <a:p>
            <a:pPr algn="ctr"/>
            <a:r>
              <a:rPr sz="1700" b="1">
                <a:solidFill>
                  <a:srgbClr val="191B5C"/>
                </a:solidFill>
                <a:latin typeface="Aptos"/>
              </a:rPr>
              <a:t>Team Sparsha</a:t>
            </a:r>
          </a:p>
        </p:txBody>
      </p:sp>
      <p:sp>
        <p:nvSpPr>
          <p:cNvPr id="14" name="TextBox 13"/>
          <p:cNvSpPr txBox="1"/>
          <p:nvPr/>
        </p:nvSpPr>
        <p:spPr>
          <a:xfrm>
            <a:off x="8979408" y="2944368"/>
            <a:ext cx="2103120" cy="640080"/>
          </a:xfrm>
          <a:prstGeom prst="rect">
            <a:avLst/>
          </a:prstGeom>
          <a:noFill/>
        </p:spPr>
        <p:txBody>
          <a:bodyPr wrap="square" lIns="54864" tIns="18288" rIns="54864" bIns="18288" anchor="ctr">
            <a:spAutoFit/>
          </a:bodyPr>
          <a:lstStyle/>
          <a:p>
            <a:pPr algn="ctr"/>
            <a:r>
              <a:rPr sz="1300" b="0">
                <a:solidFill>
                  <a:srgbClr val="2D2B39"/>
                </a:solidFill>
                <a:latin typeface="Aptos"/>
              </a:rPr>
              <a:t>RV University, Mysuru</a:t>
            </a:r>
          </a:p>
        </p:txBody>
      </p:sp>
      <p:sp>
        <p:nvSpPr>
          <p:cNvPr id="15" name="TextBox 14"/>
          <p:cNvSpPr txBox="1"/>
          <p:nvPr/>
        </p:nvSpPr>
        <p:spPr>
          <a:xfrm>
            <a:off x="8979408" y="3840480"/>
            <a:ext cx="2103120" cy="365760"/>
          </a:xfrm>
          <a:prstGeom prst="rect">
            <a:avLst/>
          </a:prstGeom>
          <a:noFill/>
        </p:spPr>
        <p:txBody>
          <a:bodyPr wrap="square" lIns="54864" tIns="18288" rIns="54864" bIns="18288" anchor="ctr">
            <a:spAutoFit/>
          </a:bodyPr>
          <a:lstStyle/>
          <a:p>
            <a:pPr algn="ctr"/>
            <a:r>
              <a:rPr sz="1200" b="0">
                <a:solidFill>
                  <a:srgbClr val="696775"/>
                </a:solidFill>
                <a:latin typeface="Aptos"/>
              </a:rPr>
              <a:t>Mentor: Dr. Shruthi P</a:t>
            </a:r>
          </a:p>
        </p:txBody>
      </p:sp>
      <p:sp>
        <p:nvSpPr>
          <p:cNvPr id="16" name="TextBox 15"/>
          <p:cNvSpPr txBox="1"/>
          <p:nvPr/>
        </p:nvSpPr>
        <p:spPr>
          <a:xfrm>
            <a:off x="731520" y="6446520"/>
            <a:ext cx="6949440" cy="201168"/>
          </a:xfrm>
          <a:prstGeom prst="rect">
            <a:avLst/>
          </a:prstGeom>
          <a:noFill/>
        </p:spPr>
        <p:txBody>
          <a:bodyPr wrap="square" lIns="54864" tIns="18288" rIns="54864" bIns="18288" anchor="ctr">
            <a:spAutoFit/>
          </a:bodyPr>
          <a:lstStyle/>
          <a:p>
            <a:pPr algn="l"/>
            <a:r>
              <a:rPr sz="1000" b="1">
                <a:solidFill>
                  <a:srgbClr val="FFFFFF"/>
                </a:solidFill>
                <a:latin typeface="Aptos"/>
              </a:rPr>
              <a:t>EMATIX  •  Connecting Today, Tomorrow</a:t>
            </a:r>
          </a:p>
        </p:txBody>
      </p:sp>
      <p:sp>
        <p:nvSpPr>
          <p:cNvPr id="17" name="TextBox 16"/>
          <p:cNvSpPr txBox="1"/>
          <p:nvPr/>
        </p:nvSpPr>
        <p:spPr>
          <a:xfrm>
            <a:off x="8321040" y="6446520"/>
            <a:ext cx="3154680" cy="201168"/>
          </a:xfrm>
          <a:prstGeom prst="rect">
            <a:avLst/>
          </a:prstGeom>
          <a:noFill/>
        </p:spPr>
        <p:txBody>
          <a:bodyPr wrap="square" lIns="54864" tIns="18288" rIns="54864" bIns="18288" anchor="ctr">
            <a:spAutoFit/>
          </a:bodyPr>
          <a:lstStyle/>
          <a:p>
            <a:pPr algn="r"/>
            <a:r>
              <a:rPr sz="900" b="0">
                <a:solidFill>
                  <a:srgbClr val="FFFFFF"/>
                </a:solidFill>
                <a:latin typeface="Aptos"/>
              </a:rPr>
              <a:t>github.com/Bhajanth13/SparshaGuard</a:t>
            </a:r>
          </a:p>
        </p:txBody>
      </p:sp>
      <p:pic>
        <p:nvPicPr>
          <p:cNvPr id="19" name="Picture 18">
            <a:extLst>
              <a:ext uri="{FF2B5EF4-FFF2-40B4-BE49-F238E27FC236}">
                <a16:creationId xmlns:a16="http://schemas.microsoft.com/office/drawing/2014/main" id="{AA23FA03-9B86-7AA0-E5ED-DDCB2A4E2053}"/>
              </a:ext>
            </a:extLst>
          </p:cNvPr>
          <p:cNvPicPr>
            <a:picLocks noChangeAspect="1"/>
          </p:cNvPicPr>
          <p:nvPr/>
        </p:nvPicPr>
        <p:blipFill>
          <a:blip r:embed="rId2"/>
          <a:srcRect t="7524" b="12718"/>
          <a:stretch>
            <a:fillRect/>
          </a:stretch>
        </p:blipFill>
        <p:spPr>
          <a:xfrm>
            <a:off x="314632" y="310896"/>
            <a:ext cx="3038168" cy="96926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57400" y="256032"/>
            <a:ext cx="7223760" cy="274320"/>
          </a:xfrm>
          <a:prstGeom prst="rect">
            <a:avLst/>
          </a:prstGeom>
          <a:noFill/>
        </p:spPr>
        <p:txBody>
          <a:bodyPr wrap="square" lIns="54864" tIns="18288" rIns="54864" bIns="18288" anchor="ctr">
            <a:spAutoFit/>
          </a:bodyPr>
          <a:lstStyle/>
          <a:p>
            <a:pPr algn="l"/>
            <a:r>
              <a:rPr sz="1000" b="1">
                <a:solidFill>
                  <a:srgbClr val="191B5C"/>
                </a:solidFill>
                <a:latin typeface="Aptos"/>
              </a:rPr>
              <a:t>BHARATH INNOVATE HACKATHON 2026</a:t>
            </a:r>
          </a:p>
        </p:txBody>
      </p:sp>
      <p:sp>
        <p:nvSpPr>
          <p:cNvPr id="5" name="TextBox 4"/>
          <p:cNvSpPr txBox="1"/>
          <p:nvPr/>
        </p:nvSpPr>
        <p:spPr>
          <a:xfrm>
            <a:off x="11064240" y="256032"/>
            <a:ext cx="548640" cy="274320"/>
          </a:xfrm>
          <a:prstGeom prst="rect">
            <a:avLst/>
          </a:prstGeom>
          <a:noFill/>
        </p:spPr>
        <p:txBody>
          <a:bodyPr wrap="square" lIns="54864" tIns="18288" rIns="54864" bIns="18288" anchor="ctr">
            <a:spAutoFit/>
          </a:bodyPr>
          <a:lstStyle/>
          <a:p>
            <a:pPr algn="r"/>
            <a:r>
              <a:rPr sz="1100" b="1">
                <a:solidFill>
                  <a:srgbClr val="5B2278"/>
                </a:solidFill>
                <a:latin typeface="Aptos"/>
              </a:rPr>
              <a:t>02</a:t>
            </a:r>
          </a:p>
        </p:txBody>
      </p:sp>
      <p:sp>
        <p:nvSpPr>
          <p:cNvPr id="6" name="TextBox 5"/>
          <p:cNvSpPr txBox="1"/>
          <p:nvPr/>
        </p:nvSpPr>
        <p:spPr>
          <a:xfrm>
            <a:off x="566928" y="868680"/>
            <a:ext cx="10881360" cy="475488"/>
          </a:xfrm>
          <a:prstGeom prst="rect">
            <a:avLst/>
          </a:prstGeom>
          <a:noFill/>
        </p:spPr>
        <p:txBody>
          <a:bodyPr wrap="square" lIns="54864" tIns="18288" rIns="54864" bIns="18288" anchor="ctr">
            <a:spAutoFit/>
          </a:bodyPr>
          <a:lstStyle/>
          <a:p>
            <a:pPr algn="l"/>
            <a:r>
              <a:rPr sz="2500" b="1">
                <a:solidFill>
                  <a:srgbClr val="191B5C"/>
                </a:solidFill>
                <a:latin typeface="Aptos"/>
              </a:rPr>
              <a:t>Problem Statement</a:t>
            </a:r>
          </a:p>
        </p:txBody>
      </p:sp>
      <p:sp>
        <p:nvSpPr>
          <p:cNvPr id="7" name="Rectangle 6"/>
          <p:cNvSpPr/>
          <p:nvPr/>
        </p:nvSpPr>
        <p:spPr>
          <a:xfrm>
            <a:off x="594360" y="1417320"/>
            <a:ext cx="658368" cy="4114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11696"/>
            <a:ext cx="12191695" cy="146304"/>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82512"/>
            <a:ext cx="6858000" cy="201168"/>
          </a:xfrm>
          <a:prstGeom prst="rect">
            <a:avLst/>
          </a:prstGeom>
          <a:noFill/>
        </p:spPr>
        <p:txBody>
          <a:bodyPr wrap="square" lIns="54864" tIns="18288" rIns="54864" bIns="18288" anchor="ctr">
            <a:spAutoFit/>
          </a:bodyPr>
          <a:lstStyle/>
          <a:p>
            <a:pPr algn="l"/>
            <a:r>
              <a:rPr sz="900" b="1">
                <a:solidFill>
                  <a:srgbClr val="696775"/>
                </a:solidFill>
                <a:latin typeface="Aptos"/>
              </a:rPr>
              <a:t>Innovate  |  Build  |  Solve  |  A Stronger Bharat</a:t>
            </a:r>
          </a:p>
        </p:txBody>
      </p:sp>
      <p:sp>
        <p:nvSpPr>
          <p:cNvPr id="10" name="TextBox 9"/>
          <p:cNvSpPr txBox="1"/>
          <p:nvPr/>
        </p:nvSpPr>
        <p:spPr>
          <a:xfrm>
            <a:off x="8321040" y="6382512"/>
            <a:ext cx="3246120" cy="201168"/>
          </a:xfrm>
          <a:prstGeom prst="rect">
            <a:avLst/>
          </a:prstGeom>
          <a:noFill/>
        </p:spPr>
        <p:txBody>
          <a:bodyPr wrap="square" lIns="54864" tIns="18288" rIns="54864" bIns="18288" anchor="ctr">
            <a:spAutoFit/>
          </a:bodyPr>
          <a:lstStyle/>
          <a:p>
            <a:pPr algn="r"/>
            <a:r>
              <a:rPr sz="900" b="0">
                <a:solidFill>
                  <a:srgbClr val="696775"/>
                </a:solidFill>
                <a:latin typeface="Aptos"/>
              </a:rPr>
              <a:t>Team Sparsha  •  RV University</a:t>
            </a:r>
          </a:p>
        </p:txBody>
      </p:sp>
      <p:sp>
        <p:nvSpPr>
          <p:cNvPr id="11" name="Rounded Rectangle 10"/>
          <p:cNvSpPr/>
          <p:nvPr/>
        </p:nvSpPr>
        <p:spPr>
          <a:xfrm>
            <a:off x="640080" y="1737360"/>
            <a:ext cx="5349240" cy="169164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40080" y="1737360"/>
            <a:ext cx="68580" cy="169164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59" y="1847088"/>
            <a:ext cx="5029200" cy="320040"/>
          </a:xfrm>
          <a:prstGeom prst="rect">
            <a:avLst/>
          </a:prstGeom>
          <a:noFill/>
        </p:spPr>
        <p:txBody>
          <a:bodyPr wrap="square" lIns="54864" tIns="18288" rIns="54864" bIns="18288" anchor="ctr">
            <a:spAutoFit/>
          </a:bodyPr>
          <a:lstStyle/>
          <a:p>
            <a:pPr algn="l"/>
            <a:r>
              <a:rPr sz="1500" b="1">
                <a:solidFill>
                  <a:srgbClr val="191B5C"/>
                </a:solidFill>
                <a:latin typeface="Aptos"/>
              </a:rPr>
              <a:t>Problem definition</a:t>
            </a:r>
          </a:p>
        </p:txBody>
      </p:sp>
      <p:sp>
        <p:nvSpPr>
          <p:cNvPr id="14" name="TextBox 13"/>
          <p:cNvSpPr txBox="1"/>
          <p:nvPr/>
        </p:nvSpPr>
        <p:spPr>
          <a:xfrm>
            <a:off x="822959" y="2212848"/>
            <a:ext cx="5029200" cy="1124712"/>
          </a:xfrm>
          <a:prstGeom prst="rect">
            <a:avLst/>
          </a:prstGeom>
          <a:noFill/>
        </p:spPr>
        <p:txBody>
          <a:bodyPr wrap="square" lIns="54864" tIns="18288" rIns="54864" bIns="18288" anchor="t">
            <a:spAutoFit/>
          </a:bodyPr>
          <a:lstStyle/>
          <a:p>
            <a:pPr algn="l"/>
            <a:r>
              <a:rPr sz="1500" b="0">
                <a:solidFill>
                  <a:srgbClr val="2D2B39"/>
                </a:solidFill>
                <a:latin typeface="Aptos"/>
              </a:rPr>
              <a:t>Every personal safety alert today (SOS apps, panic buttons) needs the victim to act first, which an attack rarely allows. No wearable raises an alarm on its own when another person touches her.</a:t>
            </a:r>
          </a:p>
        </p:txBody>
      </p:sp>
      <p:sp>
        <p:nvSpPr>
          <p:cNvPr id="15" name="Rounded Rectangle 14"/>
          <p:cNvSpPr/>
          <p:nvPr/>
        </p:nvSpPr>
        <p:spPr>
          <a:xfrm>
            <a:off x="6217920" y="1737360"/>
            <a:ext cx="5349240" cy="169164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17920" y="1737360"/>
            <a:ext cx="68580" cy="1691640"/>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1847088"/>
            <a:ext cx="5029200" cy="320040"/>
          </a:xfrm>
          <a:prstGeom prst="rect">
            <a:avLst/>
          </a:prstGeom>
          <a:noFill/>
        </p:spPr>
        <p:txBody>
          <a:bodyPr wrap="square" lIns="54864" tIns="18288" rIns="54864" bIns="18288" anchor="ctr">
            <a:spAutoFit/>
          </a:bodyPr>
          <a:lstStyle/>
          <a:p>
            <a:pPr algn="l"/>
            <a:r>
              <a:rPr sz="1500" b="1">
                <a:solidFill>
                  <a:srgbClr val="191B5C"/>
                </a:solidFill>
                <a:latin typeface="Aptos"/>
              </a:rPr>
              <a:t>Who is affected?</a:t>
            </a:r>
          </a:p>
        </p:txBody>
      </p:sp>
      <p:sp>
        <p:nvSpPr>
          <p:cNvPr id="18" name="TextBox 17"/>
          <p:cNvSpPr txBox="1"/>
          <p:nvPr/>
        </p:nvSpPr>
        <p:spPr>
          <a:xfrm>
            <a:off x="6400800" y="2212848"/>
            <a:ext cx="5029200" cy="1124712"/>
          </a:xfrm>
          <a:prstGeom prst="rect">
            <a:avLst/>
          </a:prstGeom>
          <a:noFill/>
        </p:spPr>
        <p:txBody>
          <a:bodyPr wrap="square" lIns="54864" tIns="18288" rIns="54864" bIns="18288" anchor="t">
            <a:spAutoFit/>
          </a:bodyPr>
          <a:lstStyle/>
          <a:p>
            <a:pPr algn="l"/>
            <a:r>
              <a:rPr sz="1500" b="0">
                <a:solidFill>
                  <a:srgbClr val="2D2B39"/>
                </a:solidFill>
                <a:latin typeface="Aptos"/>
              </a:rPr>
              <a:t>Women walking alone at night, commuting in crowded buses and metros, or riding cabs and autos, and the families waiting for them.</a:t>
            </a:r>
          </a:p>
        </p:txBody>
      </p:sp>
      <p:sp>
        <p:nvSpPr>
          <p:cNvPr id="19" name="Rounded Rectangle 18"/>
          <p:cNvSpPr/>
          <p:nvPr/>
        </p:nvSpPr>
        <p:spPr>
          <a:xfrm>
            <a:off x="640080" y="3703320"/>
            <a:ext cx="5349240" cy="169164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40080" y="3703320"/>
            <a:ext cx="68580" cy="1691640"/>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3813048"/>
            <a:ext cx="5029200" cy="320040"/>
          </a:xfrm>
          <a:prstGeom prst="rect">
            <a:avLst/>
          </a:prstGeom>
          <a:noFill/>
        </p:spPr>
        <p:txBody>
          <a:bodyPr wrap="square" lIns="54864" tIns="18288" rIns="54864" bIns="18288" anchor="ctr">
            <a:spAutoFit/>
          </a:bodyPr>
          <a:lstStyle/>
          <a:p>
            <a:pPr algn="l"/>
            <a:r>
              <a:rPr sz="1500" b="1">
                <a:solidFill>
                  <a:srgbClr val="191B5C"/>
                </a:solidFill>
                <a:latin typeface="Aptos"/>
              </a:rPr>
              <a:t>Current limitations</a:t>
            </a:r>
          </a:p>
        </p:txBody>
      </p:sp>
      <p:sp>
        <p:nvSpPr>
          <p:cNvPr id="22" name="TextBox 21"/>
          <p:cNvSpPr txBox="1"/>
          <p:nvPr/>
        </p:nvSpPr>
        <p:spPr>
          <a:xfrm>
            <a:off x="822959" y="4178808"/>
            <a:ext cx="5029200" cy="1124712"/>
          </a:xfrm>
          <a:prstGeom prst="rect">
            <a:avLst/>
          </a:prstGeom>
          <a:noFill/>
        </p:spPr>
        <p:txBody>
          <a:bodyPr wrap="square" lIns="54864" tIns="18288" rIns="54864" bIns="18288" anchor="t">
            <a:spAutoFit/>
          </a:bodyPr>
          <a:lstStyle/>
          <a:p>
            <a:pPr algn="l"/>
            <a:r>
              <a:rPr sz="1500" b="0">
                <a:solidFill>
                  <a:srgbClr val="2D2B39"/>
                </a:solidFill>
                <a:latin typeface="Aptos"/>
              </a:rPr>
              <a:t>SOS apps and panic buttons need a deliberate action. Fall and heart-rate alerts on wearables can't tell a stranger's grab from daily movement.</a:t>
            </a:r>
          </a:p>
        </p:txBody>
      </p:sp>
      <p:sp>
        <p:nvSpPr>
          <p:cNvPr id="23" name="Rounded Rectangle 22"/>
          <p:cNvSpPr/>
          <p:nvPr/>
        </p:nvSpPr>
        <p:spPr>
          <a:xfrm>
            <a:off x="6217920" y="3703320"/>
            <a:ext cx="5349240" cy="169164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217920" y="3703320"/>
            <a:ext cx="68580" cy="169164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0" y="3813048"/>
            <a:ext cx="5029200" cy="320040"/>
          </a:xfrm>
          <a:prstGeom prst="rect">
            <a:avLst/>
          </a:prstGeom>
          <a:noFill/>
        </p:spPr>
        <p:txBody>
          <a:bodyPr wrap="square" lIns="54864" tIns="18288" rIns="54864" bIns="18288" anchor="ctr">
            <a:spAutoFit/>
          </a:bodyPr>
          <a:lstStyle/>
          <a:p>
            <a:pPr algn="l"/>
            <a:r>
              <a:rPr sz="1500" b="1">
                <a:solidFill>
                  <a:srgbClr val="191B5C"/>
                </a:solidFill>
                <a:latin typeface="Aptos"/>
              </a:rPr>
              <a:t>Evidence</a:t>
            </a:r>
          </a:p>
        </p:txBody>
      </p:sp>
      <p:sp>
        <p:nvSpPr>
          <p:cNvPr id="26" name="TextBox 25"/>
          <p:cNvSpPr txBox="1"/>
          <p:nvPr/>
        </p:nvSpPr>
        <p:spPr>
          <a:xfrm>
            <a:off x="6400800" y="4178808"/>
            <a:ext cx="5029200" cy="1124712"/>
          </a:xfrm>
          <a:prstGeom prst="rect">
            <a:avLst/>
          </a:prstGeom>
          <a:noFill/>
        </p:spPr>
        <p:txBody>
          <a:bodyPr wrap="square" lIns="54864" tIns="18288" rIns="54864" bIns="18288" anchor="t">
            <a:spAutoFit/>
          </a:bodyPr>
          <a:lstStyle/>
          <a:p>
            <a:pPr algn="l"/>
            <a:r>
              <a:rPr sz="1500" b="0">
                <a:solidFill>
                  <a:srgbClr val="2D2B39"/>
                </a:solidFill>
                <a:latin typeface="Aptos"/>
              </a:rPr>
              <a:t>NCRB, Crime in India 2022: 4,45,256 crimes against women registered, up 4 % on 2021; 18.7 % were assaults on a woman's modesty.</a:t>
            </a:r>
          </a:p>
        </p:txBody>
      </p:sp>
      <p:pic>
        <p:nvPicPr>
          <p:cNvPr id="28" name="Picture 27">
            <a:extLst>
              <a:ext uri="{FF2B5EF4-FFF2-40B4-BE49-F238E27FC236}">
                <a16:creationId xmlns:a16="http://schemas.microsoft.com/office/drawing/2014/main" id="{242AFD82-37DE-0EEE-E049-DC9F97B99272}"/>
              </a:ext>
            </a:extLst>
          </p:cNvPr>
          <p:cNvPicPr>
            <a:picLocks noChangeAspect="1"/>
          </p:cNvPicPr>
          <p:nvPr/>
        </p:nvPicPr>
        <p:blipFill>
          <a:blip r:embed="rId2"/>
          <a:srcRect t="7524" b="12718"/>
          <a:stretch>
            <a:fillRect/>
          </a:stretch>
        </p:blipFill>
        <p:spPr>
          <a:xfrm>
            <a:off x="314632" y="203980"/>
            <a:ext cx="1742768" cy="55599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57400" y="256032"/>
            <a:ext cx="7223760" cy="274320"/>
          </a:xfrm>
          <a:prstGeom prst="rect">
            <a:avLst/>
          </a:prstGeom>
          <a:noFill/>
        </p:spPr>
        <p:txBody>
          <a:bodyPr wrap="square" lIns="54864" tIns="18288" rIns="54864" bIns="18288" anchor="ctr">
            <a:spAutoFit/>
          </a:bodyPr>
          <a:lstStyle/>
          <a:p>
            <a:pPr algn="l"/>
            <a:r>
              <a:rPr sz="1000" b="1">
                <a:solidFill>
                  <a:srgbClr val="191B5C"/>
                </a:solidFill>
                <a:latin typeface="Aptos"/>
              </a:rPr>
              <a:t>BHARATH INNOVATE HACKATHON 2026</a:t>
            </a:r>
          </a:p>
        </p:txBody>
      </p:sp>
      <p:sp>
        <p:nvSpPr>
          <p:cNvPr id="5" name="TextBox 4"/>
          <p:cNvSpPr txBox="1"/>
          <p:nvPr/>
        </p:nvSpPr>
        <p:spPr>
          <a:xfrm>
            <a:off x="11064240" y="256032"/>
            <a:ext cx="548640" cy="274320"/>
          </a:xfrm>
          <a:prstGeom prst="rect">
            <a:avLst/>
          </a:prstGeom>
          <a:noFill/>
        </p:spPr>
        <p:txBody>
          <a:bodyPr wrap="square" lIns="54864" tIns="18288" rIns="54864" bIns="18288" anchor="ctr">
            <a:spAutoFit/>
          </a:bodyPr>
          <a:lstStyle/>
          <a:p>
            <a:pPr algn="r"/>
            <a:r>
              <a:rPr sz="1100" b="1">
                <a:solidFill>
                  <a:srgbClr val="5B2278"/>
                </a:solidFill>
                <a:latin typeface="Aptos"/>
              </a:rPr>
              <a:t>03</a:t>
            </a:r>
          </a:p>
        </p:txBody>
      </p:sp>
      <p:sp>
        <p:nvSpPr>
          <p:cNvPr id="6" name="TextBox 5"/>
          <p:cNvSpPr txBox="1"/>
          <p:nvPr/>
        </p:nvSpPr>
        <p:spPr>
          <a:xfrm>
            <a:off x="566928" y="868680"/>
            <a:ext cx="10881360" cy="475488"/>
          </a:xfrm>
          <a:prstGeom prst="rect">
            <a:avLst/>
          </a:prstGeom>
          <a:noFill/>
        </p:spPr>
        <p:txBody>
          <a:bodyPr wrap="square" lIns="54864" tIns="18288" rIns="54864" bIns="18288" anchor="ctr">
            <a:spAutoFit/>
          </a:bodyPr>
          <a:lstStyle/>
          <a:p>
            <a:pPr algn="l"/>
            <a:r>
              <a:rPr sz="2500" b="1">
                <a:solidFill>
                  <a:srgbClr val="191B5C"/>
                </a:solidFill>
                <a:latin typeface="Aptos"/>
              </a:rPr>
              <a:t>Proposed Solution</a:t>
            </a:r>
          </a:p>
        </p:txBody>
      </p:sp>
      <p:sp>
        <p:nvSpPr>
          <p:cNvPr id="7" name="Rectangle 6"/>
          <p:cNvSpPr/>
          <p:nvPr/>
        </p:nvSpPr>
        <p:spPr>
          <a:xfrm>
            <a:off x="594360" y="1417320"/>
            <a:ext cx="658368" cy="4114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11696"/>
            <a:ext cx="12191695" cy="146304"/>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82512"/>
            <a:ext cx="6858000" cy="201168"/>
          </a:xfrm>
          <a:prstGeom prst="rect">
            <a:avLst/>
          </a:prstGeom>
          <a:noFill/>
        </p:spPr>
        <p:txBody>
          <a:bodyPr wrap="square" lIns="54864" tIns="18288" rIns="54864" bIns="18288" anchor="ctr">
            <a:spAutoFit/>
          </a:bodyPr>
          <a:lstStyle/>
          <a:p>
            <a:pPr algn="l"/>
            <a:r>
              <a:rPr sz="900" b="1">
                <a:solidFill>
                  <a:srgbClr val="696775"/>
                </a:solidFill>
                <a:latin typeface="Aptos"/>
              </a:rPr>
              <a:t>Innovate  |  Build  |  Solve  |  A Stronger Bharat</a:t>
            </a:r>
          </a:p>
        </p:txBody>
      </p:sp>
      <p:sp>
        <p:nvSpPr>
          <p:cNvPr id="10" name="TextBox 9"/>
          <p:cNvSpPr txBox="1"/>
          <p:nvPr/>
        </p:nvSpPr>
        <p:spPr>
          <a:xfrm>
            <a:off x="8321040" y="6382512"/>
            <a:ext cx="3246120" cy="201168"/>
          </a:xfrm>
          <a:prstGeom prst="rect">
            <a:avLst/>
          </a:prstGeom>
          <a:noFill/>
        </p:spPr>
        <p:txBody>
          <a:bodyPr wrap="square" lIns="54864" tIns="18288" rIns="54864" bIns="18288" anchor="ctr">
            <a:spAutoFit/>
          </a:bodyPr>
          <a:lstStyle/>
          <a:p>
            <a:pPr algn="r"/>
            <a:r>
              <a:rPr sz="900" b="0">
                <a:solidFill>
                  <a:srgbClr val="696775"/>
                </a:solidFill>
                <a:latin typeface="Aptos"/>
              </a:rPr>
              <a:t>Team Sparsha  •  RV University</a:t>
            </a:r>
          </a:p>
        </p:txBody>
      </p:sp>
      <p:sp>
        <p:nvSpPr>
          <p:cNvPr id="11" name="Rounded Rectangle 10"/>
          <p:cNvSpPr/>
          <p:nvPr/>
        </p:nvSpPr>
        <p:spPr>
          <a:xfrm>
            <a:off x="640080" y="1737360"/>
            <a:ext cx="6766560" cy="182880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40080" y="1737360"/>
            <a:ext cx="68580" cy="182880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59" y="1847088"/>
            <a:ext cx="6446520" cy="320040"/>
          </a:xfrm>
          <a:prstGeom prst="rect">
            <a:avLst/>
          </a:prstGeom>
          <a:noFill/>
        </p:spPr>
        <p:txBody>
          <a:bodyPr wrap="square" lIns="54864" tIns="18288" rIns="54864" bIns="18288" anchor="ctr">
            <a:spAutoFit/>
          </a:bodyPr>
          <a:lstStyle/>
          <a:p>
            <a:pPr algn="l"/>
            <a:r>
              <a:rPr sz="1500" b="1">
                <a:solidFill>
                  <a:srgbClr val="191B5C"/>
                </a:solidFill>
                <a:latin typeface="Aptos"/>
              </a:rPr>
              <a:t>Solution overview</a:t>
            </a:r>
          </a:p>
        </p:txBody>
      </p:sp>
      <p:sp>
        <p:nvSpPr>
          <p:cNvPr id="14" name="TextBox 13"/>
          <p:cNvSpPr txBox="1"/>
          <p:nvPr/>
        </p:nvSpPr>
        <p:spPr>
          <a:xfrm>
            <a:off x="822959" y="2212848"/>
            <a:ext cx="6446520" cy="1261872"/>
          </a:xfrm>
          <a:prstGeom prst="rect">
            <a:avLst/>
          </a:prstGeom>
          <a:noFill/>
        </p:spPr>
        <p:txBody>
          <a:bodyPr wrap="square" lIns="54864" tIns="18288" rIns="54864" bIns="18288" anchor="t">
            <a:spAutoFit/>
          </a:bodyPr>
          <a:lstStyle/>
          <a:p>
            <a:pPr algn="l"/>
            <a:r>
              <a:rPr sz="1600" b="0">
                <a:solidFill>
                  <a:srgbClr val="2D2B39"/>
                </a:solidFill>
                <a:latin typeface="Aptos"/>
              </a:rPr>
              <a:t>A smartwatch that feels another person's touch. In Guard Mode, a stranger's grab, or her struggling to get free, starts a 15 s PIN countdown and turns the mic on. No PIN sends SMS, GPS and the voice recording, and calls 112.</a:t>
            </a:r>
          </a:p>
        </p:txBody>
      </p:sp>
      <p:sp>
        <p:nvSpPr>
          <p:cNvPr id="15" name="Rounded Rectangle 14"/>
          <p:cNvSpPr/>
          <p:nvPr/>
        </p:nvSpPr>
        <p:spPr>
          <a:xfrm>
            <a:off x="7635240" y="1737360"/>
            <a:ext cx="3931920" cy="182880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635240" y="1737360"/>
            <a:ext cx="68580" cy="1828800"/>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18119" y="1847088"/>
            <a:ext cx="3611879" cy="320040"/>
          </a:xfrm>
          <a:prstGeom prst="rect">
            <a:avLst/>
          </a:prstGeom>
          <a:noFill/>
        </p:spPr>
        <p:txBody>
          <a:bodyPr wrap="square" lIns="54864" tIns="18288" rIns="54864" bIns="18288" anchor="ctr">
            <a:spAutoFit/>
          </a:bodyPr>
          <a:lstStyle/>
          <a:p>
            <a:pPr algn="l"/>
            <a:r>
              <a:rPr sz="1500" b="1">
                <a:solidFill>
                  <a:srgbClr val="191B5C"/>
                </a:solidFill>
                <a:latin typeface="Aptos"/>
              </a:rPr>
              <a:t>Key innovation</a:t>
            </a:r>
          </a:p>
        </p:txBody>
      </p:sp>
      <p:sp>
        <p:nvSpPr>
          <p:cNvPr id="18" name="TextBox 17"/>
          <p:cNvSpPr txBox="1"/>
          <p:nvPr/>
        </p:nvSpPr>
        <p:spPr>
          <a:xfrm>
            <a:off x="7818119" y="2212848"/>
            <a:ext cx="3611879" cy="1261872"/>
          </a:xfrm>
          <a:prstGeom prst="rect">
            <a:avLst/>
          </a:prstGeom>
          <a:noFill/>
        </p:spPr>
        <p:txBody>
          <a:bodyPr wrap="square" lIns="54864" tIns="18288" rIns="54864" bIns="18288" anchor="t">
            <a:spAutoFit/>
          </a:bodyPr>
          <a:lstStyle/>
          <a:p>
            <a:pPr algn="l"/>
            <a:r>
              <a:rPr sz="1500" b="0">
                <a:solidFill>
                  <a:srgbClr val="2D2B39"/>
                </a:solidFill>
                <a:latin typeface="Aptos"/>
              </a:rPr>
              <a:t>Two bodies share static charge the instant they touch. The watch feels that jump, so her own hand, a metal pole or a phone never count as a person.</a:t>
            </a:r>
          </a:p>
        </p:txBody>
      </p:sp>
      <p:sp>
        <p:nvSpPr>
          <p:cNvPr id="19" name="TextBox 18"/>
          <p:cNvSpPr txBox="1"/>
          <p:nvPr/>
        </p:nvSpPr>
        <p:spPr>
          <a:xfrm>
            <a:off x="685800" y="3977639"/>
            <a:ext cx="3200400" cy="320040"/>
          </a:xfrm>
          <a:prstGeom prst="rect">
            <a:avLst/>
          </a:prstGeom>
          <a:noFill/>
        </p:spPr>
        <p:txBody>
          <a:bodyPr wrap="square" lIns="54864" tIns="18288" rIns="54864" bIns="18288" anchor="ctr">
            <a:spAutoFit/>
          </a:bodyPr>
          <a:lstStyle/>
          <a:p>
            <a:pPr algn="l"/>
            <a:r>
              <a:rPr sz="1400" b="1">
                <a:solidFill>
                  <a:srgbClr val="191B5C"/>
                </a:solidFill>
                <a:latin typeface="Aptos"/>
              </a:rPr>
              <a:t>KEY BENEFITS</a:t>
            </a:r>
          </a:p>
        </p:txBody>
      </p:sp>
      <p:sp>
        <p:nvSpPr>
          <p:cNvPr id="20" name="Rounded Rectangle 19"/>
          <p:cNvSpPr/>
          <p:nvPr/>
        </p:nvSpPr>
        <p:spPr>
          <a:xfrm>
            <a:off x="685800" y="4434840"/>
            <a:ext cx="3474720" cy="105156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85800" y="4434840"/>
            <a:ext cx="68580" cy="105156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4544568"/>
            <a:ext cx="3154679" cy="320040"/>
          </a:xfrm>
          <a:prstGeom prst="rect">
            <a:avLst/>
          </a:prstGeom>
          <a:noFill/>
        </p:spPr>
        <p:txBody>
          <a:bodyPr wrap="square" lIns="54864" tIns="18288" rIns="54864" bIns="18288" anchor="ctr">
            <a:spAutoFit/>
          </a:bodyPr>
          <a:lstStyle/>
          <a:p>
            <a:pPr algn="l"/>
            <a:r>
              <a:rPr sz="1500" b="1">
                <a:solidFill>
                  <a:srgbClr val="191B5C"/>
                </a:solidFill>
                <a:latin typeface="Aptos"/>
              </a:rPr>
              <a:t>01  Hands-free</a:t>
            </a:r>
          </a:p>
        </p:txBody>
      </p:sp>
      <p:sp>
        <p:nvSpPr>
          <p:cNvPr id="23" name="TextBox 22"/>
          <p:cNvSpPr txBox="1"/>
          <p:nvPr/>
        </p:nvSpPr>
        <p:spPr>
          <a:xfrm>
            <a:off x="868680" y="4910327"/>
            <a:ext cx="3154679" cy="484631"/>
          </a:xfrm>
          <a:prstGeom prst="rect">
            <a:avLst/>
          </a:prstGeom>
          <a:noFill/>
        </p:spPr>
        <p:txBody>
          <a:bodyPr wrap="square" lIns="54864" tIns="18288" rIns="54864" bIns="18288" anchor="t">
            <a:spAutoFit/>
          </a:bodyPr>
          <a:lstStyle/>
          <a:p>
            <a:pPr algn="l"/>
            <a:r>
              <a:rPr sz="1300" b="0">
                <a:solidFill>
                  <a:srgbClr val="2D2B39"/>
                </a:solidFill>
                <a:latin typeface="Aptos"/>
              </a:rPr>
              <a:t>No phone, no button: she only acts to cancel</a:t>
            </a:r>
          </a:p>
        </p:txBody>
      </p:sp>
      <p:sp>
        <p:nvSpPr>
          <p:cNvPr id="24" name="Rounded Rectangle 23"/>
          <p:cNvSpPr/>
          <p:nvPr/>
        </p:nvSpPr>
        <p:spPr>
          <a:xfrm>
            <a:off x="4480560" y="4434840"/>
            <a:ext cx="3474720" cy="105156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480560" y="4434840"/>
            <a:ext cx="68580" cy="1051560"/>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63440" y="4544568"/>
            <a:ext cx="3154679" cy="320040"/>
          </a:xfrm>
          <a:prstGeom prst="rect">
            <a:avLst/>
          </a:prstGeom>
          <a:noFill/>
        </p:spPr>
        <p:txBody>
          <a:bodyPr wrap="square" lIns="54864" tIns="18288" rIns="54864" bIns="18288" anchor="ctr">
            <a:spAutoFit/>
          </a:bodyPr>
          <a:lstStyle/>
          <a:p>
            <a:pPr algn="l"/>
            <a:r>
              <a:rPr sz="1500" b="1">
                <a:solidFill>
                  <a:srgbClr val="191B5C"/>
                </a:solidFill>
                <a:latin typeface="Aptos"/>
              </a:rPr>
              <a:t>02  Discreet</a:t>
            </a:r>
          </a:p>
        </p:txBody>
      </p:sp>
      <p:sp>
        <p:nvSpPr>
          <p:cNvPr id="27" name="TextBox 26"/>
          <p:cNvSpPr txBox="1"/>
          <p:nvPr/>
        </p:nvSpPr>
        <p:spPr>
          <a:xfrm>
            <a:off x="4663440" y="4910327"/>
            <a:ext cx="3154679" cy="484631"/>
          </a:xfrm>
          <a:prstGeom prst="rect">
            <a:avLst/>
          </a:prstGeom>
          <a:noFill/>
        </p:spPr>
        <p:txBody>
          <a:bodyPr wrap="square" lIns="54864" tIns="18288" rIns="54864" bIns="18288" anchor="t">
            <a:spAutoFit/>
          </a:bodyPr>
          <a:lstStyle/>
          <a:p>
            <a:pPr algn="l"/>
            <a:r>
              <a:rPr sz="1300" b="0">
                <a:solidFill>
                  <a:srgbClr val="2D2B39"/>
                </a:solidFill>
                <a:latin typeface="Aptos"/>
              </a:rPr>
              <a:t>A duress PIN looks like a normal cancel</a:t>
            </a:r>
          </a:p>
        </p:txBody>
      </p:sp>
      <p:sp>
        <p:nvSpPr>
          <p:cNvPr id="28" name="Rounded Rectangle 27"/>
          <p:cNvSpPr/>
          <p:nvPr/>
        </p:nvSpPr>
        <p:spPr>
          <a:xfrm>
            <a:off x="8275320" y="4434840"/>
            <a:ext cx="3474720" cy="105156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275320" y="4434840"/>
            <a:ext cx="68580" cy="1051560"/>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458200" y="4544568"/>
            <a:ext cx="3154679" cy="320040"/>
          </a:xfrm>
          <a:prstGeom prst="rect">
            <a:avLst/>
          </a:prstGeom>
          <a:noFill/>
        </p:spPr>
        <p:txBody>
          <a:bodyPr wrap="square" lIns="54864" tIns="18288" rIns="54864" bIns="18288" anchor="ctr">
            <a:spAutoFit/>
          </a:bodyPr>
          <a:lstStyle/>
          <a:p>
            <a:pPr algn="l"/>
            <a:r>
              <a:rPr sz="1500" b="1">
                <a:solidFill>
                  <a:srgbClr val="191B5C"/>
                </a:solidFill>
                <a:latin typeface="Aptos"/>
              </a:rPr>
              <a:t>03  Grounded</a:t>
            </a:r>
          </a:p>
        </p:txBody>
      </p:sp>
      <p:sp>
        <p:nvSpPr>
          <p:cNvPr id="31" name="TextBox 30"/>
          <p:cNvSpPr txBox="1"/>
          <p:nvPr/>
        </p:nvSpPr>
        <p:spPr>
          <a:xfrm>
            <a:off x="8458200" y="4910327"/>
            <a:ext cx="3154679" cy="484631"/>
          </a:xfrm>
          <a:prstGeom prst="rect">
            <a:avLst/>
          </a:prstGeom>
          <a:noFill/>
        </p:spPr>
        <p:txBody>
          <a:bodyPr wrap="square" lIns="54864" tIns="18288" rIns="54864" bIns="18288" anchor="t">
            <a:spAutoFit/>
          </a:bodyPr>
          <a:lstStyle/>
          <a:p>
            <a:pPr algn="l"/>
            <a:r>
              <a:rPr sz="1300" b="0">
                <a:solidFill>
                  <a:srgbClr val="2D2B39"/>
                </a:solidFill>
                <a:latin typeface="Aptos"/>
              </a:rPr>
              <a:t>Physics from 60 sources, checked with SPICE + FastCap</a:t>
            </a:r>
          </a:p>
        </p:txBody>
      </p:sp>
      <p:pic>
        <p:nvPicPr>
          <p:cNvPr id="33" name="Picture 32">
            <a:extLst>
              <a:ext uri="{FF2B5EF4-FFF2-40B4-BE49-F238E27FC236}">
                <a16:creationId xmlns:a16="http://schemas.microsoft.com/office/drawing/2014/main" id="{68CDA1B1-793F-FBFC-429B-CC538C335C70}"/>
              </a:ext>
            </a:extLst>
          </p:cNvPr>
          <p:cNvPicPr>
            <a:picLocks noChangeAspect="1"/>
          </p:cNvPicPr>
          <p:nvPr/>
        </p:nvPicPr>
        <p:blipFill>
          <a:blip r:embed="rId2"/>
          <a:srcRect t="7524" b="12718"/>
          <a:stretch>
            <a:fillRect/>
          </a:stretch>
        </p:blipFill>
        <p:spPr>
          <a:xfrm>
            <a:off x="324464" y="203980"/>
            <a:ext cx="1742768" cy="55599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57400" y="256032"/>
            <a:ext cx="7223760" cy="274320"/>
          </a:xfrm>
          <a:prstGeom prst="rect">
            <a:avLst/>
          </a:prstGeom>
          <a:noFill/>
        </p:spPr>
        <p:txBody>
          <a:bodyPr wrap="square" lIns="54864" tIns="18288" rIns="54864" bIns="18288" anchor="ctr">
            <a:spAutoFit/>
          </a:bodyPr>
          <a:lstStyle/>
          <a:p>
            <a:pPr algn="l"/>
            <a:r>
              <a:rPr sz="1000" b="1">
                <a:solidFill>
                  <a:srgbClr val="191B5C"/>
                </a:solidFill>
                <a:latin typeface="Aptos"/>
              </a:rPr>
              <a:t>BHARATH INNOVATE HACKATHON 2026</a:t>
            </a:r>
          </a:p>
        </p:txBody>
      </p:sp>
      <p:sp>
        <p:nvSpPr>
          <p:cNvPr id="5" name="TextBox 4"/>
          <p:cNvSpPr txBox="1"/>
          <p:nvPr/>
        </p:nvSpPr>
        <p:spPr>
          <a:xfrm>
            <a:off x="11064240" y="256032"/>
            <a:ext cx="548640" cy="274320"/>
          </a:xfrm>
          <a:prstGeom prst="rect">
            <a:avLst/>
          </a:prstGeom>
          <a:noFill/>
        </p:spPr>
        <p:txBody>
          <a:bodyPr wrap="square" lIns="54864" tIns="18288" rIns="54864" bIns="18288" anchor="ctr">
            <a:spAutoFit/>
          </a:bodyPr>
          <a:lstStyle/>
          <a:p>
            <a:pPr algn="r"/>
            <a:r>
              <a:rPr sz="1100" b="1">
                <a:solidFill>
                  <a:srgbClr val="5B2278"/>
                </a:solidFill>
                <a:latin typeface="Aptos"/>
              </a:rPr>
              <a:t>04</a:t>
            </a:r>
          </a:p>
        </p:txBody>
      </p:sp>
      <p:sp>
        <p:nvSpPr>
          <p:cNvPr id="6" name="TextBox 5"/>
          <p:cNvSpPr txBox="1"/>
          <p:nvPr/>
        </p:nvSpPr>
        <p:spPr>
          <a:xfrm>
            <a:off x="566928" y="868680"/>
            <a:ext cx="10881360" cy="475488"/>
          </a:xfrm>
          <a:prstGeom prst="rect">
            <a:avLst/>
          </a:prstGeom>
          <a:noFill/>
        </p:spPr>
        <p:txBody>
          <a:bodyPr wrap="square" lIns="54864" tIns="18288" rIns="54864" bIns="18288" anchor="ctr">
            <a:spAutoFit/>
          </a:bodyPr>
          <a:lstStyle/>
          <a:p>
            <a:pPr algn="l"/>
            <a:r>
              <a:rPr sz="2500" b="1">
                <a:solidFill>
                  <a:srgbClr val="191B5C"/>
                </a:solidFill>
                <a:latin typeface="Aptos"/>
              </a:rPr>
              <a:t>Architecture &amp; Technology</a:t>
            </a:r>
          </a:p>
        </p:txBody>
      </p:sp>
      <p:sp>
        <p:nvSpPr>
          <p:cNvPr id="7" name="Rectangle 6"/>
          <p:cNvSpPr/>
          <p:nvPr/>
        </p:nvSpPr>
        <p:spPr>
          <a:xfrm>
            <a:off x="594360" y="1417320"/>
            <a:ext cx="658368" cy="4114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11696"/>
            <a:ext cx="12191695" cy="146304"/>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82512"/>
            <a:ext cx="6858000" cy="201168"/>
          </a:xfrm>
          <a:prstGeom prst="rect">
            <a:avLst/>
          </a:prstGeom>
          <a:noFill/>
        </p:spPr>
        <p:txBody>
          <a:bodyPr wrap="square" lIns="54864" tIns="18288" rIns="54864" bIns="18288" anchor="ctr">
            <a:spAutoFit/>
          </a:bodyPr>
          <a:lstStyle/>
          <a:p>
            <a:pPr algn="l"/>
            <a:r>
              <a:rPr sz="900" b="1">
                <a:solidFill>
                  <a:srgbClr val="696775"/>
                </a:solidFill>
                <a:latin typeface="Aptos"/>
              </a:rPr>
              <a:t>Innovate  |  Build  |  Solve  |  A Stronger Bharat</a:t>
            </a:r>
          </a:p>
        </p:txBody>
      </p:sp>
      <p:sp>
        <p:nvSpPr>
          <p:cNvPr id="10" name="TextBox 9"/>
          <p:cNvSpPr txBox="1"/>
          <p:nvPr/>
        </p:nvSpPr>
        <p:spPr>
          <a:xfrm>
            <a:off x="8321040" y="6382512"/>
            <a:ext cx="3246120" cy="201168"/>
          </a:xfrm>
          <a:prstGeom prst="rect">
            <a:avLst/>
          </a:prstGeom>
          <a:noFill/>
        </p:spPr>
        <p:txBody>
          <a:bodyPr wrap="square" lIns="54864" tIns="18288" rIns="54864" bIns="18288" anchor="ctr">
            <a:spAutoFit/>
          </a:bodyPr>
          <a:lstStyle/>
          <a:p>
            <a:pPr algn="r"/>
            <a:r>
              <a:rPr sz="900" b="0">
                <a:solidFill>
                  <a:srgbClr val="696775"/>
                </a:solidFill>
                <a:latin typeface="Aptos"/>
              </a:rPr>
              <a:t>Team Sparsha  •  RV University</a:t>
            </a:r>
          </a:p>
        </p:txBody>
      </p:sp>
      <p:sp>
        <p:nvSpPr>
          <p:cNvPr id="11" name="TextBox 10"/>
          <p:cNvSpPr txBox="1"/>
          <p:nvPr/>
        </p:nvSpPr>
        <p:spPr>
          <a:xfrm>
            <a:off x="685800" y="1664208"/>
            <a:ext cx="2743200" cy="274320"/>
          </a:xfrm>
          <a:prstGeom prst="rect">
            <a:avLst/>
          </a:prstGeom>
          <a:noFill/>
        </p:spPr>
        <p:txBody>
          <a:bodyPr wrap="square" lIns="54864" tIns="18288" rIns="54864" bIns="18288" anchor="ctr">
            <a:spAutoFit/>
          </a:bodyPr>
          <a:lstStyle/>
          <a:p>
            <a:pPr algn="l"/>
            <a:r>
              <a:rPr sz="1300" b="1">
                <a:solidFill>
                  <a:srgbClr val="5B2278"/>
                </a:solidFill>
                <a:latin typeface="Aptos"/>
              </a:rPr>
              <a:t>SYSTEM FLOW</a:t>
            </a:r>
          </a:p>
        </p:txBody>
      </p:sp>
      <p:sp>
        <p:nvSpPr>
          <p:cNvPr id="12" name="Rounded Rectangle 11"/>
          <p:cNvSpPr/>
          <p:nvPr/>
        </p:nvSpPr>
        <p:spPr>
          <a:xfrm>
            <a:off x="685800" y="2148840"/>
            <a:ext cx="2331720" cy="1115568"/>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95528" y="2304288"/>
            <a:ext cx="2103120" cy="256032"/>
          </a:xfrm>
          <a:prstGeom prst="rect">
            <a:avLst/>
          </a:prstGeom>
          <a:noFill/>
        </p:spPr>
        <p:txBody>
          <a:bodyPr wrap="square" lIns="54864" tIns="18288" rIns="54864" bIns="18288" anchor="ctr">
            <a:spAutoFit/>
          </a:bodyPr>
          <a:lstStyle/>
          <a:p>
            <a:pPr algn="ctr"/>
            <a:r>
              <a:rPr sz="1300" b="1">
                <a:solidFill>
                  <a:srgbClr val="191B5C"/>
                </a:solidFill>
                <a:latin typeface="Aptos"/>
              </a:rPr>
              <a:t>SENSE</a:t>
            </a:r>
          </a:p>
        </p:txBody>
      </p:sp>
      <p:sp>
        <p:nvSpPr>
          <p:cNvPr id="14" name="TextBox 13"/>
          <p:cNvSpPr txBox="1"/>
          <p:nvPr/>
        </p:nvSpPr>
        <p:spPr>
          <a:xfrm>
            <a:off x="795528" y="2651760"/>
            <a:ext cx="2103120" cy="365760"/>
          </a:xfrm>
          <a:prstGeom prst="rect">
            <a:avLst/>
          </a:prstGeom>
          <a:noFill/>
        </p:spPr>
        <p:txBody>
          <a:bodyPr wrap="square" lIns="54864" tIns="18288" rIns="54864" bIns="18288" anchor="ctr">
            <a:spAutoFit/>
          </a:bodyPr>
          <a:lstStyle/>
          <a:p>
            <a:pPr algn="ctr"/>
            <a:r>
              <a:rPr sz="1200" b="0">
                <a:solidFill>
                  <a:srgbClr val="696775"/>
                </a:solidFill>
                <a:latin typeface="Aptos"/>
              </a:rPr>
              <a:t>Touch, static, motion, heart rate</a:t>
            </a:r>
          </a:p>
        </p:txBody>
      </p:sp>
      <p:sp>
        <p:nvSpPr>
          <p:cNvPr id="15" name="TextBox 14"/>
          <p:cNvSpPr txBox="1"/>
          <p:nvPr/>
        </p:nvSpPr>
        <p:spPr>
          <a:xfrm>
            <a:off x="3081528" y="2468880"/>
            <a:ext cx="384048" cy="365760"/>
          </a:xfrm>
          <a:prstGeom prst="rect">
            <a:avLst/>
          </a:prstGeom>
          <a:noFill/>
        </p:spPr>
        <p:txBody>
          <a:bodyPr wrap="square" lIns="54864" tIns="18288" rIns="54864" bIns="18288" anchor="ctr">
            <a:spAutoFit/>
          </a:bodyPr>
          <a:lstStyle/>
          <a:p>
            <a:pPr algn="ctr"/>
            <a:r>
              <a:rPr sz="2200" b="1">
                <a:solidFill>
                  <a:srgbClr val="FFC41E"/>
                </a:solidFill>
                <a:latin typeface="Aptos"/>
              </a:rPr>
              <a:t>→</a:t>
            </a:r>
          </a:p>
        </p:txBody>
      </p:sp>
      <p:sp>
        <p:nvSpPr>
          <p:cNvPr id="16" name="Rounded Rectangle 15"/>
          <p:cNvSpPr/>
          <p:nvPr/>
        </p:nvSpPr>
        <p:spPr>
          <a:xfrm>
            <a:off x="3566160" y="2148840"/>
            <a:ext cx="2331720" cy="1115568"/>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75887" y="2304288"/>
            <a:ext cx="2103120" cy="256032"/>
          </a:xfrm>
          <a:prstGeom prst="rect">
            <a:avLst/>
          </a:prstGeom>
          <a:noFill/>
        </p:spPr>
        <p:txBody>
          <a:bodyPr wrap="square" lIns="54864" tIns="18288" rIns="54864" bIns="18288" anchor="ctr">
            <a:spAutoFit/>
          </a:bodyPr>
          <a:lstStyle/>
          <a:p>
            <a:pPr algn="ctr"/>
            <a:r>
              <a:rPr sz="1300" b="1">
                <a:solidFill>
                  <a:srgbClr val="191B5C"/>
                </a:solidFill>
                <a:latin typeface="Aptos"/>
              </a:rPr>
              <a:t>DETECT</a:t>
            </a:r>
          </a:p>
        </p:txBody>
      </p:sp>
      <p:sp>
        <p:nvSpPr>
          <p:cNvPr id="18" name="TextBox 17"/>
          <p:cNvSpPr txBox="1"/>
          <p:nvPr/>
        </p:nvSpPr>
        <p:spPr>
          <a:xfrm>
            <a:off x="3675887" y="2651760"/>
            <a:ext cx="2103120" cy="365760"/>
          </a:xfrm>
          <a:prstGeom prst="rect">
            <a:avLst/>
          </a:prstGeom>
          <a:noFill/>
        </p:spPr>
        <p:txBody>
          <a:bodyPr wrap="square" lIns="54864" tIns="18288" rIns="54864" bIns="18288" anchor="ctr">
            <a:spAutoFit/>
          </a:bodyPr>
          <a:lstStyle/>
          <a:p>
            <a:pPr algn="ctr"/>
            <a:r>
              <a:rPr sz="1200" b="0">
                <a:solidFill>
                  <a:srgbClr val="696775"/>
                </a:solidFill>
                <a:latin typeface="Aptos"/>
              </a:rPr>
              <a:t>Another body, pulling or struggle</a:t>
            </a:r>
          </a:p>
        </p:txBody>
      </p:sp>
      <p:sp>
        <p:nvSpPr>
          <p:cNvPr id="19" name="TextBox 18"/>
          <p:cNvSpPr txBox="1"/>
          <p:nvPr/>
        </p:nvSpPr>
        <p:spPr>
          <a:xfrm>
            <a:off x="5961888" y="2468880"/>
            <a:ext cx="384048" cy="365760"/>
          </a:xfrm>
          <a:prstGeom prst="rect">
            <a:avLst/>
          </a:prstGeom>
          <a:noFill/>
        </p:spPr>
        <p:txBody>
          <a:bodyPr wrap="square" lIns="54864" tIns="18288" rIns="54864" bIns="18288" anchor="ctr">
            <a:spAutoFit/>
          </a:bodyPr>
          <a:lstStyle/>
          <a:p>
            <a:pPr algn="ctr"/>
            <a:r>
              <a:rPr sz="2200" b="1">
                <a:solidFill>
                  <a:srgbClr val="FFC41E"/>
                </a:solidFill>
                <a:latin typeface="Aptos"/>
              </a:rPr>
              <a:t>→</a:t>
            </a:r>
          </a:p>
        </p:txBody>
      </p:sp>
      <p:sp>
        <p:nvSpPr>
          <p:cNvPr id="20" name="Rounded Rectangle 19"/>
          <p:cNvSpPr/>
          <p:nvPr/>
        </p:nvSpPr>
        <p:spPr>
          <a:xfrm>
            <a:off x="6446520" y="2148840"/>
            <a:ext cx="2331720" cy="1115568"/>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56248" y="2304288"/>
            <a:ext cx="2103120" cy="256032"/>
          </a:xfrm>
          <a:prstGeom prst="rect">
            <a:avLst/>
          </a:prstGeom>
          <a:noFill/>
        </p:spPr>
        <p:txBody>
          <a:bodyPr wrap="square" lIns="54864" tIns="18288" rIns="54864" bIns="18288" anchor="ctr">
            <a:spAutoFit/>
          </a:bodyPr>
          <a:lstStyle/>
          <a:p>
            <a:pPr algn="ctr"/>
            <a:r>
              <a:rPr sz="1300" b="1">
                <a:solidFill>
                  <a:srgbClr val="191B5C"/>
                </a:solidFill>
                <a:latin typeface="Aptos"/>
              </a:rPr>
              <a:t>DECIDE</a:t>
            </a:r>
          </a:p>
        </p:txBody>
      </p:sp>
      <p:sp>
        <p:nvSpPr>
          <p:cNvPr id="22" name="TextBox 21"/>
          <p:cNvSpPr txBox="1"/>
          <p:nvPr/>
        </p:nvSpPr>
        <p:spPr>
          <a:xfrm>
            <a:off x="6556248" y="2651760"/>
            <a:ext cx="2103120" cy="365760"/>
          </a:xfrm>
          <a:prstGeom prst="rect">
            <a:avLst/>
          </a:prstGeom>
          <a:noFill/>
        </p:spPr>
        <p:txBody>
          <a:bodyPr wrap="square" lIns="54864" tIns="18288" rIns="54864" bIns="18288" anchor="ctr">
            <a:spAutoFit/>
          </a:bodyPr>
          <a:lstStyle/>
          <a:p>
            <a:pPr algn="ctr"/>
            <a:r>
              <a:rPr sz="1200" b="0">
                <a:solidFill>
                  <a:srgbClr val="696775"/>
                </a:solidFill>
                <a:latin typeface="Aptos"/>
              </a:rPr>
              <a:t>PIN · duress · strap check</a:t>
            </a:r>
          </a:p>
        </p:txBody>
      </p:sp>
      <p:sp>
        <p:nvSpPr>
          <p:cNvPr id="23" name="TextBox 22"/>
          <p:cNvSpPr txBox="1"/>
          <p:nvPr/>
        </p:nvSpPr>
        <p:spPr>
          <a:xfrm>
            <a:off x="8842248" y="2468880"/>
            <a:ext cx="384048" cy="365760"/>
          </a:xfrm>
          <a:prstGeom prst="rect">
            <a:avLst/>
          </a:prstGeom>
          <a:noFill/>
        </p:spPr>
        <p:txBody>
          <a:bodyPr wrap="square" lIns="54864" tIns="18288" rIns="54864" bIns="18288" anchor="ctr">
            <a:spAutoFit/>
          </a:bodyPr>
          <a:lstStyle/>
          <a:p>
            <a:pPr algn="ctr"/>
            <a:r>
              <a:rPr sz="2200" b="1">
                <a:solidFill>
                  <a:srgbClr val="FFC41E"/>
                </a:solidFill>
                <a:latin typeface="Aptos"/>
              </a:rPr>
              <a:t>→</a:t>
            </a:r>
          </a:p>
        </p:txBody>
      </p:sp>
      <p:sp>
        <p:nvSpPr>
          <p:cNvPr id="24" name="Rounded Rectangle 23"/>
          <p:cNvSpPr/>
          <p:nvPr/>
        </p:nvSpPr>
        <p:spPr>
          <a:xfrm>
            <a:off x="9326880" y="2148840"/>
            <a:ext cx="2331720" cy="1115568"/>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36607" y="2304288"/>
            <a:ext cx="2103120" cy="256032"/>
          </a:xfrm>
          <a:prstGeom prst="rect">
            <a:avLst/>
          </a:prstGeom>
          <a:noFill/>
        </p:spPr>
        <p:txBody>
          <a:bodyPr wrap="square" lIns="54864" tIns="18288" rIns="54864" bIns="18288" anchor="ctr">
            <a:spAutoFit/>
          </a:bodyPr>
          <a:lstStyle/>
          <a:p>
            <a:pPr algn="ctr"/>
            <a:r>
              <a:rPr sz="1300" b="1">
                <a:solidFill>
                  <a:srgbClr val="191B5C"/>
                </a:solidFill>
                <a:latin typeface="Aptos"/>
              </a:rPr>
              <a:t>ALERT</a:t>
            </a:r>
          </a:p>
        </p:txBody>
      </p:sp>
      <p:sp>
        <p:nvSpPr>
          <p:cNvPr id="26" name="TextBox 25"/>
          <p:cNvSpPr txBox="1"/>
          <p:nvPr/>
        </p:nvSpPr>
        <p:spPr>
          <a:xfrm>
            <a:off x="9436607" y="2651760"/>
            <a:ext cx="2103120" cy="365760"/>
          </a:xfrm>
          <a:prstGeom prst="rect">
            <a:avLst/>
          </a:prstGeom>
          <a:noFill/>
        </p:spPr>
        <p:txBody>
          <a:bodyPr wrap="square" lIns="54864" tIns="18288" rIns="54864" bIns="18288" anchor="ctr">
            <a:spAutoFit/>
          </a:bodyPr>
          <a:lstStyle/>
          <a:p>
            <a:pPr algn="ctr"/>
            <a:r>
              <a:rPr sz="1200" b="0">
                <a:solidFill>
                  <a:srgbClr val="696775"/>
                </a:solidFill>
                <a:latin typeface="Aptos"/>
              </a:rPr>
              <a:t>SMS · GPS · voice · 112</a:t>
            </a:r>
          </a:p>
        </p:txBody>
      </p:sp>
      <p:sp>
        <p:nvSpPr>
          <p:cNvPr id="27" name="Rounded Rectangle 26"/>
          <p:cNvSpPr/>
          <p:nvPr/>
        </p:nvSpPr>
        <p:spPr>
          <a:xfrm>
            <a:off x="685800" y="3794760"/>
            <a:ext cx="5257800" cy="155448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85800" y="3794760"/>
            <a:ext cx="68580" cy="155448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68680" y="3904488"/>
            <a:ext cx="4937760" cy="320040"/>
          </a:xfrm>
          <a:prstGeom prst="rect">
            <a:avLst/>
          </a:prstGeom>
          <a:noFill/>
        </p:spPr>
        <p:txBody>
          <a:bodyPr wrap="square" lIns="54864" tIns="18288" rIns="54864" bIns="18288" anchor="ctr">
            <a:spAutoFit/>
          </a:bodyPr>
          <a:lstStyle/>
          <a:p>
            <a:pPr algn="l"/>
            <a:r>
              <a:rPr sz="1500" b="1">
                <a:solidFill>
                  <a:srgbClr val="191B5C"/>
                </a:solidFill>
                <a:latin typeface="Aptos"/>
              </a:rPr>
              <a:t>Technology stack</a:t>
            </a:r>
          </a:p>
        </p:txBody>
      </p:sp>
      <p:sp>
        <p:nvSpPr>
          <p:cNvPr id="30" name="TextBox 29"/>
          <p:cNvSpPr txBox="1"/>
          <p:nvPr/>
        </p:nvSpPr>
        <p:spPr>
          <a:xfrm>
            <a:off x="868680" y="4270248"/>
            <a:ext cx="4937760" cy="987552"/>
          </a:xfrm>
          <a:prstGeom prst="rect">
            <a:avLst/>
          </a:prstGeom>
          <a:noFill/>
        </p:spPr>
        <p:txBody>
          <a:bodyPr wrap="square" lIns="54864" tIns="18288" rIns="54864" bIns="18288" anchor="t">
            <a:spAutoFit/>
          </a:bodyPr>
          <a:lstStyle/>
          <a:p>
            <a:pPr algn="l"/>
            <a:r>
              <a:rPr sz="1400" b="1">
                <a:solidFill>
                  <a:srgbClr val="2D2B39"/>
                </a:solidFill>
                <a:latin typeface="Aptos"/>
              </a:rPr>
              <a:t xml:space="preserve">Sensing: </a:t>
            </a:r>
            <a:r>
              <a:rPr sz="1400" b="0">
                <a:solidFill>
                  <a:srgbClr val="2D2B39"/>
                </a:solidFill>
                <a:latin typeface="Aptos"/>
              </a:rPr>
              <a:t>Touché sweep, static channel, accelerometer, gyroscope, heart rate, mic</a:t>
            </a:r>
          </a:p>
          <a:p>
            <a:pPr algn="l"/>
            <a:r>
              <a:rPr sz="1400" b="1">
                <a:solidFill>
                  <a:srgbClr val="2D2B39"/>
                </a:solidFill>
                <a:latin typeface="Aptos"/>
              </a:rPr>
              <a:t xml:space="preserve">Model: </a:t>
            </a:r>
            <a:r>
              <a:rPr sz="1400" b="0">
                <a:solidFill>
                  <a:srgbClr val="2D2B39"/>
                </a:solidFill>
                <a:latin typeface="Aptos"/>
              </a:rPr>
              <a:t>Python (NumPy, SciPy), SVM, random forest</a:t>
            </a:r>
          </a:p>
          <a:p>
            <a:pPr algn="l"/>
            <a:r>
              <a:rPr sz="1400" b="1">
                <a:solidFill>
                  <a:srgbClr val="2D2B39"/>
                </a:solidFill>
                <a:latin typeface="Aptos"/>
              </a:rPr>
              <a:t xml:space="preserve">Checks: </a:t>
            </a:r>
            <a:r>
              <a:rPr sz="1400" b="0">
                <a:solidFill>
                  <a:srgbClr val="2D2B39"/>
                </a:solidFill>
                <a:latin typeface="Aptos"/>
              </a:rPr>
              <a:t xml:space="preserve">ngspice, MIT FastCap  ·  </a:t>
            </a:r>
            <a:r>
              <a:rPr sz="1400" b="1">
                <a:solidFill>
                  <a:srgbClr val="2D2B39"/>
                </a:solidFill>
                <a:latin typeface="Aptos"/>
              </a:rPr>
              <a:t xml:space="preserve">Demo: </a:t>
            </a:r>
            <a:r>
              <a:rPr sz="1400" b="0">
                <a:solidFill>
                  <a:srgbClr val="2D2B39"/>
                </a:solidFill>
                <a:latin typeface="Aptos"/>
              </a:rPr>
              <a:t>HTML / JS</a:t>
            </a:r>
          </a:p>
        </p:txBody>
      </p:sp>
      <p:sp>
        <p:nvSpPr>
          <p:cNvPr id="31" name="Rounded Rectangle 30"/>
          <p:cNvSpPr/>
          <p:nvPr/>
        </p:nvSpPr>
        <p:spPr>
          <a:xfrm>
            <a:off x="6217920" y="3794760"/>
            <a:ext cx="5257800" cy="155448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217920" y="3794760"/>
            <a:ext cx="68580" cy="1554480"/>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0" y="3904488"/>
            <a:ext cx="4937760" cy="320040"/>
          </a:xfrm>
          <a:prstGeom prst="rect">
            <a:avLst/>
          </a:prstGeom>
          <a:noFill/>
        </p:spPr>
        <p:txBody>
          <a:bodyPr wrap="square" lIns="54864" tIns="18288" rIns="54864" bIns="18288" anchor="ctr">
            <a:spAutoFit/>
          </a:bodyPr>
          <a:lstStyle/>
          <a:p>
            <a:pPr algn="l"/>
            <a:r>
              <a:rPr sz="1500" b="1">
                <a:solidFill>
                  <a:srgbClr val="191B5C"/>
                </a:solidFill>
                <a:latin typeface="Aptos"/>
              </a:rPr>
              <a:t>Why these technologies?</a:t>
            </a:r>
          </a:p>
        </p:txBody>
      </p:sp>
      <p:sp>
        <p:nvSpPr>
          <p:cNvPr id="34" name="TextBox 33"/>
          <p:cNvSpPr txBox="1"/>
          <p:nvPr/>
        </p:nvSpPr>
        <p:spPr>
          <a:xfrm>
            <a:off x="6400800" y="4270248"/>
            <a:ext cx="4937760" cy="987552"/>
          </a:xfrm>
          <a:prstGeom prst="rect">
            <a:avLst/>
          </a:prstGeom>
          <a:noFill/>
        </p:spPr>
        <p:txBody>
          <a:bodyPr wrap="square" lIns="54864" tIns="18288" rIns="54864" bIns="18288" anchor="t">
            <a:spAutoFit/>
          </a:bodyPr>
          <a:lstStyle/>
          <a:p>
            <a:pPr algn="l"/>
            <a:r>
              <a:rPr sz="1400" b="0">
                <a:solidFill>
                  <a:srgbClr val="2D2B39"/>
                </a:solidFill>
                <a:latin typeface="Aptos"/>
              </a:rPr>
              <a:t>Low-cost parts, battery-powered, every decision on the watch. Each value is traced to a published source (60 logged), and two independent solvers confirm the physics.</a:t>
            </a:r>
          </a:p>
        </p:txBody>
      </p:sp>
      <p:pic>
        <p:nvPicPr>
          <p:cNvPr id="36" name="Picture 35">
            <a:extLst>
              <a:ext uri="{FF2B5EF4-FFF2-40B4-BE49-F238E27FC236}">
                <a16:creationId xmlns:a16="http://schemas.microsoft.com/office/drawing/2014/main" id="{E8E86637-C615-FC3B-0E6F-0AA6FAA44511}"/>
              </a:ext>
            </a:extLst>
          </p:cNvPr>
          <p:cNvPicPr>
            <a:picLocks noChangeAspect="1"/>
          </p:cNvPicPr>
          <p:nvPr/>
        </p:nvPicPr>
        <p:blipFill>
          <a:blip r:embed="rId2"/>
          <a:srcRect t="7524" b="12718"/>
          <a:stretch>
            <a:fillRect/>
          </a:stretch>
        </p:blipFill>
        <p:spPr>
          <a:xfrm>
            <a:off x="314632" y="203980"/>
            <a:ext cx="1742768" cy="55599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57400" y="256032"/>
            <a:ext cx="7223760" cy="274320"/>
          </a:xfrm>
          <a:prstGeom prst="rect">
            <a:avLst/>
          </a:prstGeom>
          <a:noFill/>
        </p:spPr>
        <p:txBody>
          <a:bodyPr wrap="square" lIns="54864" tIns="18288" rIns="54864" bIns="18288" anchor="ctr">
            <a:spAutoFit/>
          </a:bodyPr>
          <a:lstStyle/>
          <a:p>
            <a:pPr algn="l"/>
            <a:r>
              <a:rPr sz="1000" b="1">
                <a:solidFill>
                  <a:srgbClr val="191B5C"/>
                </a:solidFill>
                <a:latin typeface="Aptos"/>
              </a:rPr>
              <a:t>BHARATH INNOVATE HACKATHON 2026</a:t>
            </a:r>
          </a:p>
        </p:txBody>
      </p:sp>
      <p:sp>
        <p:nvSpPr>
          <p:cNvPr id="5" name="TextBox 4"/>
          <p:cNvSpPr txBox="1"/>
          <p:nvPr/>
        </p:nvSpPr>
        <p:spPr>
          <a:xfrm>
            <a:off x="11064240" y="256032"/>
            <a:ext cx="548640" cy="274320"/>
          </a:xfrm>
          <a:prstGeom prst="rect">
            <a:avLst/>
          </a:prstGeom>
          <a:noFill/>
        </p:spPr>
        <p:txBody>
          <a:bodyPr wrap="square" lIns="54864" tIns="18288" rIns="54864" bIns="18288" anchor="ctr">
            <a:spAutoFit/>
          </a:bodyPr>
          <a:lstStyle/>
          <a:p>
            <a:pPr algn="r"/>
            <a:r>
              <a:rPr sz="1100" b="1">
                <a:solidFill>
                  <a:srgbClr val="5B2278"/>
                </a:solidFill>
                <a:latin typeface="Aptos"/>
              </a:rPr>
              <a:t>05</a:t>
            </a:r>
          </a:p>
        </p:txBody>
      </p:sp>
      <p:sp>
        <p:nvSpPr>
          <p:cNvPr id="6" name="TextBox 5"/>
          <p:cNvSpPr txBox="1"/>
          <p:nvPr/>
        </p:nvSpPr>
        <p:spPr>
          <a:xfrm>
            <a:off x="566928" y="868680"/>
            <a:ext cx="10881360" cy="475488"/>
          </a:xfrm>
          <a:prstGeom prst="rect">
            <a:avLst/>
          </a:prstGeom>
          <a:noFill/>
        </p:spPr>
        <p:txBody>
          <a:bodyPr wrap="square" lIns="54864" tIns="18288" rIns="54864" bIns="18288" anchor="ctr">
            <a:spAutoFit/>
          </a:bodyPr>
          <a:lstStyle/>
          <a:p>
            <a:pPr algn="l"/>
            <a:r>
              <a:rPr sz="2500" b="1">
                <a:solidFill>
                  <a:srgbClr val="191B5C"/>
                </a:solidFill>
                <a:latin typeface="Aptos"/>
              </a:rPr>
              <a:t>Prototype &amp; Demonstration</a:t>
            </a:r>
          </a:p>
        </p:txBody>
      </p:sp>
      <p:sp>
        <p:nvSpPr>
          <p:cNvPr id="7" name="Rectangle 6"/>
          <p:cNvSpPr/>
          <p:nvPr/>
        </p:nvSpPr>
        <p:spPr>
          <a:xfrm>
            <a:off x="594360" y="1417320"/>
            <a:ext cx="658368" cy="4114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11696"/>
            <a:ext cx="12191695" cy="146304"/>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82512"/>
            <a:ext cx="6858000" cy="201168"/>
          </a:xfrm>
          <a:prstGeom prst="rect">
            <a:avLst/>
          </a:prstGeom>
          <a:noFill/>
        </p:spPr>
        <p:txBody>
          <a:bodyPr wrap="square" lIns="54864" tIns="18288" rIns="54864" bIns="18288" anchor="ctr">
            <a:spAutoFit/>
          </a:bodyPr>
          <a:lstStyle/>
          <a:p>
            <a:pPr algn="l"/>
            <a:r>
              <a:rPr sz="900" b="1">
                <a:solidFill>
                  <a:srgbClr val="696775"/>
                </a:solidFill>
                <a:latin typeface="Aptos"/>
              </a:rPr>
              <a:t>Innovate  |  Build  |  Solve  |  A Stronger Bharat</a:t>
            </a:r>
          </a:p>
        </p:txBody>
      </p:sp>
      <p:sp>
        <p:nvSpPr>
          <p:cNvPr id="10" name="TextBox 9"/>
          <p:cNvSpPr txBox="1"/>
          <p:nvPr/>
        </p:nvSpPr>
        <p:spPr>
          <a:xfrm>
            <a:off x="8321040" y="6382512"/>
            <a:ext cx="3246120" cy="201168"/>
          </a:xfrm>
          <a:prstGeom prst="rect">
            <a:avLst/>
          </a:prstGeom>
          <a:noFill/>
        </p:spPr>
        <p:txBody>
          <a:bodyPr wrap="square" lIns="54864" tIns="18288" rIns="54864" bIns="18288" anchor="ctr">
            <a:spAutoFit/>
          </a:bodyPr>
          <a:lstStyle/>
          <a:p>
            <a:pPr algn="r"/>
            <a:r>
              <a:rPr sz="900" b="0">
                <a:solidFill>
                  <a:srgbClr val="696775"/>
                </a:solidFill>
                <a:latin typeface="Aptos"/>
              </a:rPr>
              <a:t>Team Sparsha  •  RV University</a:t>
            </a:r>
          </a:p>
        </p:txBody>
      </p:sp>
      <p:sp>
        <p:nvSpPr>
          <p:cNvPr id="11" name="Rounded Rectangle 10"/>
          <p:cNvSpPr/>
          <p:nvPr/>
        </p:nvSpPr>
        <p:spPr>
          <a:xfrm>
            <a:off x="685800" y="1737360"/>
            <a:ext cx="3429000" cy="342900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85800" y="1737360"/>
            <a:ext cx="68580" cy="342900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1847088"/>
            <a:ext cx="3108960" cy="320040"/>
          </a:xfrm>
          <a:prstGeom prst="rect">
            <a:avLst/>
          </a:prstGeom>
          <a:noFill/>
        </p:spPr>
        <p:txBody>
          <a:bodyPr wrap="square" lIns="54864" tIns="18288" rIns="54864" bIns="18288" anchor="ctr">
            <a:spAutoFit/>
          </a:bodyPr>
          <a:lstStyle/>
          <a:p>
            <a:pPr algn="l"/>
            <a:r>
              <a:rPr sz="1500" b="1">
                <a:solidFill>
                  <a:srgbClr val="191B5C"/>
                </a:solidFill>
                <a:latin typeface="Aptos"/>
              </a:rPr>
              <a:t>Feature 01</a:t>
            </a:r>
          </a:p>
        </p:txBody>
      </p:sp>
      <p:sp>
        <p:nvSpPr>
          <p:cNvPr id="14" name="TextBox 13"/>
          <p:cNvSpPr txBox="1"/>
          <p:nvPr/>
        </p:nvSpPr>
        <p:spPr>
          <a:xfrm>
            <a:off x="868680" y="2212848"/>
            <a:ext cx="3108960" cy="2862072"/>
          </a:xfrm>
          <a:prstGeom prst="rect">
            <a:avLst/>
          </a:prstGeom>
          <a:noFill/>
        </p:spPr>
        <p:txBody>
          <a:bodyPr wrap="square" lIns="54864" tIns="18288" rIns="54864" bIns="18288" anchor="t">
            <a:spAutoFit/>
          </a:bodyPr>
          <a:lstStyle/>
          <a:p>
            <a:pPr algn="l"/>
            <a:r>
              <a:rPr sz="1500" b="1">
                <a:solidFill>
                  <a:srgbClr val="2D2B39"/>
                </a:solidFill>
                <a:latin typeface="Aptos"/>
              </a:rPr>
              <a:t>Digital-twin demo</a:t>
            </a:r>
          </a:p>
          <a:p>
            <a:pPr algn="l"/>
            <a:endParaRPr sz="1500"/>
          </a:p>
          <a:p>
            <a:pPr algn="l"/>
            <a:r>
              <a:rPr sz="1500" b="0">
                <a:solidFill>
                  <a:srgbClr val="2D2B39"/>
                </a:solidFill>
                <a:latin typeface="Aptos"/>
              </a:rPr>
              <a:t>The watch's own firmware runs on a simulated sensor: frequency sweeps, body static at 500 Hz, accelerometer, gyroscope and heart rate.</a:t>
            </a:r>
          </a:p>
          <a:p>
            <a:pPr algn="l"/>
            <a:endParaRPr sz="1500"/>
          </a:p>
          <a:p>
            <a:pPr algn="l"/>
            <a:r>
              <a:rPr sz="1500" b="0">
                <a:solidFill>
                  <a:srgbClr val="2D2B39"/>
                </a:solidFill>
                <a:latin typeface="Aptos"/>
              </a:rPr>
              <a:t>Guided story and try-it mode: grabs, struggle, running, PIN, duress, strap removal.</a:t>
            </a:r>
          </a:p>
        </p:txBody>
      </p:sp>
      <p:sp>
        <p:nvSpPr>
          <p:cNvPr id="15" name="Rounded Rectangle 14"/>
          <p:cNvSpPr/>
          <p:nvPr/>
        </p:nvSpPr>
        <p:spPr>
          <a:xfrm>
            <a:off x="4389120" y="1737360"/>
            <a:ext cx="3429000" cy="342900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389120" y="1737360"/>
            <a:ext cx="68580" cy="3429000"/>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0" y="1847088"/>
            <a:ext cx="3108960" cy="320040"/>
          </a:xfrm>
          <a:prstGeom prst="rect">
            <a:avLst/>
          </a:prstGeom>
          <a:noFill/>
        </p:spPr>
        <p:txBody>
          <a:bodyPr wrap="square" lIns="54864" tIns="18288" rIns="54864" bIns="18288" anchor="ctr">
            <a:spAutoFit/>
          </a:bodyPr>
          <a:lstStyle/>
          <a:p>
            <a:pPr algn="l"/>
            <a:r>
              <a:rPr sz="1500" b="1">
                <a:solidFill>
                  <a:srgbClr val="191B5C"/>
                </a:solidFill>
                <a:latin typeface="Aptos"/>
              </a:rPr>
              <a:t>Feature 02</a:t>
            </a:r>
          </a:p>
        </p:txBody>
      </p:sp>
      <p:sp>
        <p:nvSpPr>
          <p:cNvPr id="18" name="TextBox 17"/>
          <p:cNvSpPr txBox="1"/>
          <p:nvPr/>
        </p:nvSpPr>
        <p:spPr>
          <a:xfrm>
            <a:off x="4572000" y="2212848"/>
            <a:ext cx="3108960" cy="2862072"/>
          </a:xfrm>
          <a:prstGeom prst="rect">
            <a:avLst/>
          </a:prstGeom>
          <a:noFill/>
        </p:spPr>
        <p:txBody>
          <a:bodyPr wrap="square" lIns="54864" tIns="18288" rIns="54864" bIns="18288" anchor="t">
            <a:spAutoFit/>
          </a:bodyPr>
          <a:lstStyle/>
          <a:p>
            <a:pPr algn="l"/>
            <a:r>
              <a:rPr sz="1500" b="1">
                <a:solidFill>
                  <a:srgbClr val="2D2B39"/>
                </a:solidFill>
                <a:latin typeface="Aptos"/>
              </a:rPr>
              <a:t>Validated physics model</a:t>
            </a:r>
          </a:p>
          <a:p>
            <a:pPr algn="l"/>
            <a:endParaRPr sz="1500"/>
          </a:p>
          <a:p>
            <a:pPr algn="l"/>
            <a:r>
              <a:rPr sz="1500" b="0">
                <a:solidFill>
                  <a:srgbClr val="2D2B39"/>
                </a:solidFill>
                <a:latin typeface="Aptos"/>
              </a:rPr>
              <a:t>Values from 60 published sources. Solver matches SPICE to 0.0001 %; 3D field matches MIT FastCap within 1 %.</a:t>
            </a:r>
          </a:p>
          <a:p>
            <a:pPr algn="l"/>
            <a:endParaRPr sz="1500"/>
          </a:p>
          <a:p>
            <a:pPr algn="l"/>
            <a:r>
              <a:rPr sz="1500" b="0">
                <a:solidFill>
                  <a:srgbClr val="2D2B39"/>
                </a:solidFill>
                <a:latin typeface="Aptos"/>
              </a:rPr>
              <a:t>70 % of grabs over 7 body places (13 % before), 99 % of struggles; 0–1 unwanted prompts in 9 h.</a:t>
            </a:r>
          </a:p>
        </p:txBody>
      </p:sp>
      <p:sp>
        <p:nvSpPr>
          <p:cNvPr id="19" name="Rounded Rectangle 18"/>
          <p:cNvSpPr/>
          <p:nvPr/>
        </p:nvSpPr>
        <p:spPr>
          <a:xfrm>
            <a:off x="8092440" y="1737360"/>
            <a:ext cx="3429000" cy="342900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920240"/>
            <a:ext cx="2971800" cy="320040"/>
          </a:xfrm>
          <a:prstGeom prst="rect">
            <a:avLst/>
          </a:prstGeom>
          <a:noFill/>
        </p:spPr>
        <p:txBody>
          <a:bodyPr wrap="square" lIns="54864" tIns="18288" rIns="54864" bIns="18288" anchor="ctr">
            <a:spAutoFit/>
          </a:bodyPr>
          <a:lstStyle/>
          <a:p>
            <a:pPr algn="ctr"/>
            <a:r>
              <a:rPr sz="1400" b="1">
                <a:solidFill>
                  <a:srgbClr val="191B5C"/>
                </a:solidFill>
                <a:latin typeface="Aptos"/>
              </a:rPr>
              <a:t>SCREENSHOT / DEMO</a:t>
            </a:r>
          </a:p>
        </p:txBody>
      </p:sp>
      <p:pic xmlns:p="http://schemas.openxmlformats.org/presentationml/2006/main" xmlns:a="http://schemas.openxmlformats.org/drawingml/2006/main" xmlns:r="http://schemas.openxmlformats.org/officeDocument/2006/relationships">
        <p:nvPicPr>
          <p:cNvPr id="90" name="Demo screenshot" descr="SparshaGuard digital-twin demo: a shoulder grab. The sweep stays near 0.1 %, but the static voltage on her body jumps when another body touches her, arm jerks follow, and the watch asks for the PIN"/>
          <p:cNvPicPr>
            <a:picLocks noChangeAspect="1"/>
          </p:cNvPicPr>
          <p:nvPr/>
        </p:nvPicPr>
        <p:blipFill>
          <a:blip r:embed="rIdDemo"/>
          <a:stretch>
            <a:fillRect/>
          </a:stretch>
        </p:blipFill>
        <p:spPr>
          <a:xfrm>
            <a:off x="8503919" y="2331720"/>
            <a:ext cx="2606040" cy="2352254"/>
          </a:xfrm>
          <a:prstGeom prst="rect">
            <a:avLst/>
          </a:prstGeom>
          <a:ln w="9525">
            <a:solidFill>
              <a:srgbClr val="DDDBE4"/>
            </a:solidFill>
          </a:ln>
        </p:spPr>
      </p:pic>
      <p:sp>
        <p:nvSpPr>
          <p:cNvPr id="23" name="TextBox 22"/>
          <p:cNvSpPr txBox="1"/>
          <p:nvPr/>
        </p:nvSpPr>
        <p:spPr>
          <a:xfrm>
            <a:off x="731520" y="5532120"/>
            <a:ext cx="10789920" cy="320040"/>
          </a:xfrm>
          <a:prstGeom prst="rect">
            <a:avLst/>
          </a:prstGeom>
          <a:noFill/>
        </p:spPr>
        <p:txBody>
          <a:bodyPr wrap="square" lIns="54864" tIns="18288" rIns="54864" bIns="18288" anchor="ctr">
            <a:spAutoFit/>
          </a:bodyPr>
          <a:lstStyle/>
          <a:p>
            <a:pPr algn="l"/>
            <a:r>
              <a:rPr sz="1400" b="1">
                <a:solidFill>
                  <a:srgbClr val="5B2278"/>
                </a:solidFill>
                <a:latin typeface="Aptos"/>
              </a:rPr>
              <a:t xml:space="preserve">Live demo + explorer: </a:t>
            </a:r>
            <a:r>
              <a:rPr sz="1400" b="0">
                <a:solidFill>
                  <a:srgbClr val="5B2278"/>
                </a:solidFill>
                <a:latin typeface="Aptos"/>
              </a:rPr>
              <a:t>bhajanth13.github.io/SparshaGuard</a:t>
            </a:r>
            <a:r>
              <a:rPr sz="1400" b="1">
                <a:solidFill>
                  <a:srgbClr val="5B2278"/>
                </a:solidFill>
                <a:latin typeface="Aptos"/>
              </a:rPr>
              <a:t xml:space="preserve">    Code: </a:t>
            </a:r>
            <a:r>
              <a:rPr sz="1400" b="0">
                <a:solidFill>
                  <a:srgbClr val="5B2278"/>
                </a:solidFill>
                <a:latin typeface="Aptos"/>
              </a:rPr>
              <a:t>github.com/Bhajanth13/SparshaGuard</a:t>
            </a:r>
          </a:p>
        </p:txBody>
      </p:sp>
      <p:pic>
        <p:nvPicPr>
          <p:cNvPr id="25" name="Picture 24">
            <a:extLst>
              <a:ext uri="{FF2B5EF4-FFF2-40B4-BE49-F238E27FC236}">
                <a16:creationId xmlns:a16="http://schemas.microsoft.com/office/drawing/2014/main" id="{363CD1D4-3436-94EE-3465-AD79359F2213}"/>
              </a:ext>
            </a:extLst>
          </p:cNvPr>
          <p:cNvPicPr>
            <a:picLocks noChangeAspect="1"/>
          </p:cNvPicPr>
          <p:nvPr/>
        </p:nvPicPr>
        <p:blipFill>
          <a:blip r:embed="rId2"/>
          <a:srcRect t="7524" b="12718"/>
          <a:stretch>
            <a:fillRect/>
          </a:stretch>
        </p:blipFill>
        <p:spPr>
          <a:xfrm>
            <a:off x="314632" y="203980"/>
            <a:ext cx="1742768" cy="55599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57400" y="256032"/>
            <a:ext cx="7223760" cy="274320"/>
          </a:xfrm>
          <a:prstGeom prst="rect">
            <a:avLst/>
          </a:prstGeom>
          <a:noFill/>
        </p:spPr>
        <p:txBody>
          <a:bodyPr wrap="square" lIns="54864" tIns="18288" rIns="54864" bIns="18288" anchor="ctr">
            <a:spAutoFit/>
          </a:bodyPr>
          <a:lstStyle/>
          <a:p>
            <a:pPr algn="l"/>
            <a:r>
              <a:rPr sz="1000" b="1">
                <a:solidFill>
                  <a:srgbClr val="191B5C"/>
                </a:solidFill>
                <a:latin typeface="Aptos"/>
              </a:rPr>
              <a:t>BHARATH INNOVATE HACKATHON 2026</a:t>
            </a:r>
          </a:p>
        </p:txBody>
      </p:sp>
      <p:sp>
        <p:nvSpPr>
          <p:cNvPr id="5" name="TextBox 4"/>
          <p:cNvSpPr txBox="1"/>
          <p:nvPr/>
        </p:nvSpPr>
        <p:spPr>
          <a:xfrm>
            <a:off x="11064240" y="256032"/>
            <a:ext cx="548640" cy="274320"/>
          </a:xfrm>
          <a:prstGeom prst="rect">
            <a:avLst/>
          </a:prstGeom>
          <a:noFill/>
        </p:spPr>
        <p:txBody>
          <a:bodyPr wrap="square" lIns="54864" tIns="18288" rIns="54864" bIns="18288" anchor="ctr">
            <a:spAutoFit/>
          </a:bodyPr>
          <a:lstStyle/>
          <a:p>
            <a:pPr algn="r"/>
            <a:r>
              <a:rPr sz="1100" b="1">
                <a:solidFill>
                  <a:srgbClr val="5B2278"/>
                </a:solidFill>
                <a:latin typeface="Aptos"/>
              </a:rPr>
              <a:t>06</a:t>
            </a:r>
          </a:p>
        </p:txBody>
      </p:sp>
      <p:sp>
        <p:nvSpPr>
          <p:cNvPr id="6" name="TextBox 5"/>
          <p:cNvSpPr txBox="1"/>
          <p:nvPr/>
        </p:nvSpPr>
        <p:spPr>
          <a:xfrm>
            <a:off x="566928" y="868680"/>
            <a:ext cx="10881360" cy="475488"/>
          </a:xfrm>
          <a:prstGeom prst="rect">
            <a:avLst/>
          </a:prstGeom>
          <a:noFill/>
        </p:spPr>
        <p:txBody>
          <a:bodyPr wrap="square" lIns="54864" tIns="18288" rIns="54864" bIns="18288" anchor="ctr">
            <a:spAutoFit/>
          </a:bodyPr>
          <a:lstStyle/>
          <a:p>
            <a:pPr algn="l"/>
            <a:r>
              <a:rPr sz="2500" b="1">
                <a:solidFill>
                  <a:srgbClr val="191B5C"/>
                </a:solidFill>
                <a:latin typeface="Aptos"/>
              </a:rPr>
              <a:t>Feasibility &amp; Risk Management</a:t>
            </a:r>
          </a:p>
        </p:txBody>
      </p:sp>
      <p:sp>
        <p:nvSpPr>
          <p:cNvPr id="7" name="Rectangle 6"/>
          <p:cNvSpPr/>
          <p:nvPr/>
        </p:nvSpPr>
        <p:spPr>
          <a:xfrm>
            <a:off x="594360" y="1417320"/>
            <a:ext cx="658368" cy="4114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11696"/>
            <a:ext cx="12191695" cy="146304"/>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82512"/>
            <a:ext cx="6858000" cy="201168"/>
          </a:xfrm>
          <a:prstGeom prst="rect">
            <a:avLst/>
          </a:prstGeom>
          <a:noFill/>
        </p:spPr>
        <p:txBody>
          <a:bodyPr wrap="square" lIns="54864" tIns="18288" rIns="54864" bIns="18288" anchor="ctr">
            <a:spAutoFit/>
          </a:bodyPr>
          <a:lstStyle/>
          <a:p>
            <a:pPr algn="l"/>
            <a:r>
              <a:rPr sz="900" b="1">
                <a:solidFill>
                  <a:srgbClr val="696775"/>
                </a:solidFill>
                <a:latin typeface="Aptos"/>
              </a:rPr>
              <a:t>Innovate  |  Build  |  Solve  |  A Stronger Bharat</a:t>
            </a:r>
          </a:p>
        </p:txBody>
      </p:sp>
      <p:sp>
        <p:nvSpPr>
          <p:cNvPr id="10" name="TextBox 9"/>
          <p:cNvSpPr txBox="1"/>
          <p:nvPr/>
        </p:nvSpPr>
        <p:spPr>
          <a:xfrm>
            <a:off x="8321040" y="6382512"/>
            <a:ext cx="3246120" cy="201168"/>
          </a:xfrm>
          <a:prstGeom prst="rect">
            <a:avLst/>
          </a:prstGeom>
          <a:noFill/>
        </p:spPr>
        <p:txBody>
          <a:bodyPr wrap="square" lIns="54864" tIns="18288" rIns="54864" bIns="18288" anchor="ctr">
            <a:spAutoFit/>
          </a:bodyPr>
          <a:lstStyle/>
          <a:p>
            <a:pPr algn="r"/>
            <a:r>
              <a:rPr sz="900" b="0">
                <a:solidFill>
                  <a:srgbClr val="696775"/>
                </a:solidFill>
                <a:latin typeface="Aptos"/>
              </a:rPr>
              <a:t>Team Sparsha  •  RV University</a:t>
            </a:r>
          </a:p>
        </p:txBody>
      </p:sp>
      <p:sp>
        <p:nvSpPr>
          <p:cNvPr id="11" name="Rounded Rectangle 10"/>
          <p:cNvSpPr/>
          <p:nvPr/>
        </p:nvSpPr>
        <p:spPr>
          <a:xfrm>
            <a:off x="640080" y="1737360"/>
            <a:ext cx="3520440" cy="160020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40080" y="1737360"/>
            <a:ext cx="68580" cy="160020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59" y="1847088"/>
            <a:ext cx="3200400" cy="320040"/>
          </a:xfrm>
          <a:prstGeom prst="rect">
            <a:avLst/>
          </a:prstGeom>
          <a:noFill/>
        </p:spPr>
        <p:txBody>
          <a:bodyPr wrap="square" lIns="54864" tIns="18288" rIns="54864" bIns="18288" anchor="ctr">
            <a:spAutoFit/>
          </a:bodyPr>
          <a:lstStyle/>
          <a:p>
            <a:pPr algn="l"/>
            <a:r>
              <a:rPr sz="1500" b="1">
                <a:solidFill>
                  <a:srgbClr val="191B5C"/>
                </a:solidFill>
                <a:latin typeface="Aptos"/>
              </a:rPr>
              <a:t>Technical feasibility</a:t>
            </a:r>
          </a:p>
        </p:txBody>
      </p:sp>
      <p:sp>
        <p:nvSpPr>
          <p:cNvPr id="14" name="TextBox 13"/>
          <p:cNvSpPr txBox="1"/>
          <p:nvPr/>
        </p:nvSpPr>
        <p:spPr>
          <a:xfrm>
            <a:off x="822959" y="2212848"/>
            <a:ext cx="3200400" cy="1033271"/>
          </a:xfrm>
          <a:prstGeom prst="rect">
            <a:avLst/>
          </a:prstGeom>
          <a:noFill/>
        </p:spPr>
        <p:txBody>
          <a:bodyPr wrap="square" lIns="54864" tIns="18288" rIns="54864" bIns="18288" anchor="t">
            <a:spAutoFit/>
          </a:bodyPr>
          <a:lstStyle/>
          <a:p>
            <a:pPr algn="l"/>
            <a:r>
              <a:rPr sz="1400" b="0">
                <a:solidFill>
                  <a:srgbClr val="2D2B39"/>
                </a:solidFill>
                <a:latin typeface="Aptos"/>
              </a:rPr>
              <a:t>Off-the-shelf parts: ESP32, LC tank, electrode, ADS1115, motion sensor, heart-rate sensor, mic. Detection logic is written and tested.</a:t>
            </a:r>
          </a:p>
        </p:txBody>
      </p:sp>
      <p:sp>
        <p:nvSpPr>
          <p:cNvPr id="15" name="Rounded Rectangle 14"/>
          <p:cNvSpPr/>
          <p:nvPr/>
        </p:nvSpPr>
        <p:spPr>
          <a:xfrm>
            <a:off x="4343400" y="1737360"/>
            <a:ext cx="3520440" cy="160020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343400" y="1737360"/>
            <a:ext cx="68580" cy="1600200"/>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26280" y="1847088"/>
            <a:ext cx="3200400" cy="320040"/>
          </a:xfrm>
          <a:prstGeom prst="rect">
            <a:avLst/>
          </a:prstGeom>
          <a:noFill/>
        </p:spPr>
        <p:txBody>
          <a:bodyPr wrap="square" lIns="54864" tIns="18288" rIns="54864" bIns="18288" anchor="ctr">
            <a:spAutoFit/>
          </a:bodyPr>
          <a:lstStyle/>
          <a:p>
            <a:pPr algn="l"/>
            <a:r>
              <a:rPr sz="1500" b="1">
                <a:solidFill>
                  <a:srgbClr val="191B5C"/>
                </a:solidFill>
                <a:latin typeface="Aptos"/>
              </a:rPr>
              <a:t>Operational viability</a:t>
            </a:r>
          </a:p>
        </p:txBody>
      </p:sp>
      <p:sp>
        <p:nvSpPr>
          <p:cNvPr id="18" name="TextBox 17"/>
          <p:cNvSpPr txBox="1"/>
          <p:nvPr/>
        </p:nvSpPr>
        <p:spPr>
          <a:xfrm>
            <a:off x="4526280" y="2212848"/>
            <a:ext cx="3200400" cy="1033271"/>
          </a:xfrm>
          <a:prstGeom prst="rect">
            <a:avLst/>
          </a:prstGeom>
          <a:noFill/>
        </p:spPr>
        <p:txBody>
          <a:bodyPr wrap="square" lIns="54864" tIns="18288" rIns="54864" bIns="18288" anchor="t">
            <a:spAutoFit/>
          </a:bodyPr>
          <a:lstStyle/>
          <a:p>
            <a:pPr algn="l"/>
            <a:r>
              <a:rPr sz="1400" b="0">
                <a:solidFill>
                  <a:srgbClr val="2D2B39"/>
                </a:solidFill>
                <a:latin typeface="Aptos"/>
              </a:rPr>
              <a:t>Battery-powered; all decisions on the watch. Alerts over 4G LTE Cat-1, since 2G is being shut down.</a:t>
            </a:r>
          </a:p>
        </p:txBody>
      </p:sp>
      <p:sp>
        <p:nvSpPr>
          <p:cNvPr id="19" name="Rounded Rectangle 18"/>
          <p:cNvSpPr/>
          <p:nvPr/>
        </p:nvSpPr>
        <p:spPr>
          <a:xfrm>
            <a:off x="8046720" y="1737360"/>
            <a:ext cx="3520440" cy="160020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46720" y="1737360"/>
            <a:ext cx="68580" cy="1600200"/>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0" y="1847088"/>
            <a:ext cx="3200400" cy="320040"/>
          </a:xfrm>
          <a:prstGeom prst="rect">
            <a:avLst/>
          </a:prstGeom>
          <a:noFill/>
        </p:spPr>
        <p:txBody>
          <a:bodyPr wrap="square" lIns="54864" tIns="18288" rIns="54864" bIns="18288" anchor="ctr">
            <a:spAutoFit/>
          </a:bodyPr>
          <a:lstStyle/>
          <a:p>
            <a:pPr algn="l"/>
            <a:r>
              <a:rPr sz="1500" b="1">
                <a:solidFill>
                  <a:srgbClr val="191B5C"/>
                </a:solidFill>
                <a:latin typeface="Aptos"/>
              </a:rPr>
              <a:t>Market viability</a:t>
            </a:r>
          </a:p>
        </p:txBody>
      </p:sp>
      <p:sp>
        <p:nvSpPr>
          <p:cNvPr id="22" name="TextBox 21"/>
          <p:cNvSpPr txBox="1"/>
          <p:nvPr/>
        </p:nvSpPr>
        <p:spPr>
          <a:xfrm>
            <a:off x="8229600" y="2212848"/>
            <a:ext cx="3200400" cy="1033271"/>
          </a:xfrm>
          <a:prstGeom prst="rect">
            <a:avLst/>
          </a:prstGeom>
          <a:noFill/>
        </p:spPr>
        <p:txBody>
          <a:bodyPr wrap="square" lIns="54864" tIns="18288" rIns="54864" bIns="18288" anchor="t">
            <a:spAutoFit/>
          </a:bodyPr>
          <a:lstStyle/>
          <a:p>
            <a:pPr algn="l"/>
            <a:r>
              <a:rPr sz="1400" b="0">
                <a:solidFill>
                  <a:srgbClr val="2D2B39"/>
                </a:solidFill>
                <a:latin typeface="Aptos"/>
              </a:rPr>
              <a:t>Women commuters, students, night-shift workers and their families. Unlike SOS apps, she needs no action.</a:t>
            </a:r>
          </a:p>
        </p:txBody>
      </p:sp>
      <p:sp>
        <p:nvSpPr>
          <p:cNvPr id="23" name="Rounded Rectangle 22"/>
          <p:cNvSpPr/>
          <p:nvPr/>
        </p:nvSpPr>
        <p:spPr>
          <a:xfrm>
            <a:off x="640080" y="3703320"/>
            <a:ext cx="5349240" cy="155448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40080" y="3703320"/>
            <a:ext cx="68580" cy="155448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59" y="3813048"/>
            <a:ext cx="5029200" cy="320040"/>
          </a:xfrm>
          <a:prstGeom prst="rect">
            <a:avLst/>
          </a:prstGeom>
          <a:noFill/>
        </p:spPr>
        <p:txBody>
          <a:bodyPr wrap="square" lIns="54864" tIns="18288" rIns="54864" bIns="18288" anchor="ctr">
            <a:spAutoFit/>
          </a:bodyPr>
          <a:lstStyle/>
          <a:p>
            <a:pPr algn="l"/>
            <a:r>
              <a:rPr sz="1500" b="1">
                <a:solidFill>
                  <a:srgbClr val="191B5C"/>
                </a:solidFill>
                <a:latin typeface="Aptos"/>
              </a:rPr>
              <a:t>Main risk</a:t>
            </a:r>
          </a:p>
        </p:txBody>
      </p:sp>
      <p:sp>
        <p:nvSpPr>
          <p:cNvPr id="26" name="TextBox 25"/>
          <p:cNvSpPr txBox="1"/>
          <p:nvPr/>
        </p:nvSpPr>
        <p:spPr>
          <a:xfrm>
            <a:off x="822959" y="4178808"/>
            <a:ext cx="5029200" cy="987552"/>
          </a:xfrm>
          <a:prstGeom prst="rect">
            <a:avLst/>
          </a:prstGeom>
          <a:noFill/>
        </p:spPr>
        <p:txBody>
          <a:bodyPr wrap="square" lIns="54864" tIns="18288" rIns="54864" bIns="18288" anchor="t">
            <a:spAutoFit/>
          </a:bodyPr>
          <a:lstStyle/>
          <a:p>
            <a:pPr algn="l"/>
            <a:r>
              <a:rPr sz="1400" b="0">
                <a:solidFill>
                  <a:srgbClr val="2D2B39"/>
                </a:solidFill>
                <a:latin typeface="Aptos"/>
              </a:rPr>
              <a:t>Simulated, not yet measured. Static charge on Indian floors and struggle-motion thresholds are estimates; a grab that only holds can be missed.</a:t>
            </a:r>
          </a:p>
        </p:txBody>
      </p:sp>
      <p:sp>
        <p:nvSpPr>
          <p:cNvPr id="27" name="Rounded Rectangle 26"/>
          <p:cNvSpPr/>
          <p:nvPr/>
        </p:nvSpPr>
        <p:spPr>
          <a:xfrm>
            <a:off x="6217920" y="3703320"/>
            <a:ext cx="5349240" cy="155448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217920" y="3703320"/>
            <a:ext cx="68580" cy="1554480"/>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0" y="3813048"/>
            <a:ext cx="5029200" cy="320040"/>
          </a:xfrm>
          <a:prstGeom prst="rect">
            <a:avLst/>
          </a:prstGeom>
          <a:noFill/>
        </p:spPr>
        <p:txBody>
          <a:bodyPr wrap="square" lIns="54864" tIns="18288" rIns="54864" bIns="18288" anchor="ctr">
            <a:spAutoFit/>
          </a:bodyPr>
          <a:lstStyle/>
          <a:p>
            <a:pPr algn="l"/>
            <a:r>
              <a:rPr sz="1500" b="1">
                <a:solidFill>
                  <a:srgbClr val="191B5C"/>
                </a:solidFill>
                <a:latin typeface="Aptos"/>
              </a:rPr>
              <a:t>Mitigation / fallback</a:t>
            </a:r>
          </a:p>
        </p:txBody>
      </p:sp>
      <p:sp>
        <p:nvSpPr>
          <p:cNvPr id="30" name="TextBox 29"/>
          <p:cNvSpPr txBox="1"/>
          <p:nvPr/>
        </p:nvSpPr>
        <p:spPr>
          <a:xfrm>
            <a:off x="6400800" y="4178808"/>
            <a:ext cx="5029200" cy="987552"/>
          </a:xfrm>
          <a:prstGeom prst="rect">
            <a:avLst/>
          </a:prstGeom>
          <a:noFill/>
        </p:spPr>
        <p:txBody>
          <a:bodyPr wrap="square" lIns="54864" tIns="18288" rIns="54864" bIns="18288" anchor="t">
            <a:spAutoFit/>
          </a:bodyPr>
          <a:lstStyle/>
          <a:p>
            <a:pPr algn="l"/>
            <a:r>
              <a:rPr sz="1400" b="0">
                <a:solidFill>
                  <a:srgbClr val="2D2B39"/>
                </a:solidFill>
                <a:latin typeface="Aptos"/>
              </a:rPr>
              <a:t>A battery prototype (Gate 1) measures body voltages and staged-struggle motion. The wrist sweep still catches wrist grabs; the PIN handles friendly touches.</a:t>
            </a:r>
          </a:p>
        </p:txBody>
      </p:sp>
      <p:pic>
        <p:nvPicPr>
          <p:cNvPr id="32" name="Picture 31">
            <a:extLst>
              <a:ext uri="{FF2B5EF4-FFF2-40B4-BE49-F238E27FC236}">
                <a16:creationId xmlns:a16="http://schemas.microsoft.com/office/drawing/2014/main" id="{818273AC-FA8D-BB98-BE39-D900A13B4612}"/>
              </a:ext>
            </a:extLst>
          </p:cNvPr>
          <p:cNvPicPr>
            <a:picLocks noChangeAspect="1"/>
          </p:cNvPicPr>
          <p:nvPr/>
        </p:nvPicPr>
        <p:blipFill>
          <a:blip r:embed="rId2"/>
          <a:srcRect t="7524" b="12718"/>
          <a:stretch>
            <a:fillRect/>
          </a:stretch>
        </p:blipFill>
        <p:spPr>
          <a:xfrm>
            <a:off x="314632" y="203980"/>
            <a:ext cx="1742768" cy="55599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57400" y="256032"/>
            <a:ext cx="7223760" cy="274320"/>
          </a:xfrm>
          <a:prstGeom prst="rect">
            <a:avLst/>
          </a:prstGeom>
          <a:noFill/>
        </p:spPr>
        <p:txBody>
          <a:bodyPr wrap="square" lIns="54864" tIns="18288" rIns="54864" bIns="18288" anchor="ctr">
            <a:spAutoFit/>
          </a:bodyPr>
          <a:lstStyle/>
          <a:p>
            <a:pPr algn="l"/>
            <a:r>
              <a:rPr sz="1000" b="1">
                <a:solidFill>
                  <a:srgbClr val="191B5C"/>
                </a:solidFill>
                <a:latin typeface="Aptos"/>
              </a:rPr>
              <a:t>BHARATH INNOVATE HACKATHON 2026</a:t>
            </a:r>
          </a:p>
        </p:txBody>
      </p:sp>
      <p:sp>
        <p:nvSpPr>
          <p:cNvPr id="5" name="TextBox 4"/>
          <p:cNvSpPr txBox="1"/>
          <p:nvPr/>
        </p:nvSpPr>
        <p:spPr>
          <a:xfrm>
            <a:off x="11064240" y="256032"/>
            <a:ext cx="548640" cy="274320"/>
          </a:xfrm>
          <a:prstGeom prst="rect">
            <a:avLst/>
          </a:prstGeom>
          <a:noFill/>
        </p:spPr>
        <p:txBody>
          <a:bodyPr wrap="square" lIns="54864" tIns="18288" rIns="54864" bIns="18288" anchor="ctr">
            <a:spAutoFit/>
          </a:bodyPr>
          <a:lstStyle/>
          <a:p>
            <a:pPr algn="r"/>
            <a:r>
              <a:rPr sz="1100" b="1">
                <a:solidFill>
                  <a:srgbClr val="5B2278"/>
                </a:solidFill>
                <a:latin typeface="Aptos"/>
              </a:rPr>
              <a:t>07</a:t>
            </a:r>
          </a:p>
        </p:txBody>
      </p:sp>
      <p:sp>
        <p:nvSpPr>
          <p:cNvPr id="6" name="TextBox 5"/>
          <p:cNvSpPr txBox="1"/>
          <p:nvPr/>
        </p:nvSpPr>
        <p:spPr>
          <a:xfrm>
            <a:off x="566928" y="868680"/>
            <a:ext cx="10881360" cy="475488"/>
          </a:xfrm>
          <a:prstGeom prst="rect">
            <a:avLst/>
          </a:prstGeom>
          <a:noFill/>
        </p:spPr>
        <p:txBody>
          <a:bodyPr wrap="square" lIns="54864" tIns="18288" rIns="54864" bIns="18288" anchor="ctr">
            <a:spAutoFit/>
          </a:bodyPr>
          <a:lstStyle/>
          <a:p>
            <a:pPr algn="l"/>
            <a:r>
              <a:rPr sz="2500" b="1">
                <a:solidFill>
                  <a:srgbClr val="191B5C"/>
                </a:solidFill>
                <a:latin typeface="Aptos"/>
              </a:rPr>
              <a:t>Impact, Business Model &amp; Roadmap</a:t>
            </a:r>
          </a:p>
        </p:txBody>
      </p:sp>
      <p:sp>
        <p:nvSpPr>
          <p:cNvPr id="7" name="Rectangle 6"/>
          <p:cNvSpPr/>
          <p:nvPr/>
        </p:nvSpPr>
        <p:spPr>
          <a:xfrm>
            <a:off x="594360" y="1417320"/>
            <a:ext cx="658368" cy="4114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11696"/>
            <a:ext cx="12191695" cy="146304"/>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82512"/>
            <a:ext cx="6858000" cy="201168"/>
          </a:xfrm>
          <a:prstGeom prst="rect">
            <a:avLst/>
          </a:prstGeom>
          <a:noFill/>
        </p:spPr>
        <p:txBody>
          <a:bodyPr wrap="square" lIns="54864" tIns="18288" rIns="54864" bIns="18288" anchor="ctr">
            <a:spAutoFit/>
          </a:bodyPr>
          <a:lstStyle/>
          <a:p>
            <a:pPr algn="l"/>
            <a:r>
              <a:rPr sz="900" b="1">
                <a:solidFill>
                  <a:srgbClr val="696775"/>
                </a:solidFill>
                <a:latin typeface="Aptos"/>
              </a:rPr>
              <a:t>Innovate  |  Build  |  Solve  |  A Stronger Bharat</a:t>
            </a:r>
          </a:p>
        </p:txBody>
      </p:sp>
      <p:sp>
        <p:nvSpPr>
          <p:cNvPr id="10" name="TextBox 9"/>
          <p:cNvSpPr txBox="1"/>
          <p:nvPr/>
        </p:nvSpPr>
        <p:spPr>
          <a:xfrm>
            <a:off x="8321040" y="6382512"/>
            <a:ext cx="3246120" cy="201168"/>
          </a:xfrm>
          <a:prstGeom prst="rect">
            <a:avLst/>
          </a:prstGeom>
          <a:noFill/>
        </p:spPr>
        <p:txBody>
          <a:bodyPr wrap="square" lIns="54864" tIns="18288" rIns="54864" bIns="18288" anchor="ctr">
            <a:spAutoFit/>
          </a:bodyPr>
          <a:lstStyle/>
          <a:p>
            <a:pPr algn="r"/>
            <a:r>
              <a:rPr sz="900" b="0">
                <a:solidFill>
                  <a:srgbClr val="696775"/>
                </a:solidFill>
                <a:latin typeface="Aptos"/>
              </a:rPr>
              <a:t>Team Sparsha  •  RV University</a:t>
            </a:r>
          </a:p>
        </p:txBody>
      </p:sp>
      <p:sp>
        <p:nvSpPr>
          <p:cNvPr id="11" name="Rounded Rectangle 10"/>
          <p:cNvSpPr/>
          <p:nvPr/>
        </p:nvSpPr>
        <p:spPr>
          <a:xfrm>
            <a:off x="640080" y="1737360"/>
            <a:ext cx="3520440" cy="173736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40080" y="1737360"/>
            <a:ext cx="68580" cy="173736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59" y="1847088"/>
            <a:ext cx="3200400" cy="320040"/>
          </a:xfrm>
          <a:prstGeom prst="rect">
            <a:avLst/>
          </a:prstGeom>
          <a:noFill/>
        </p:spPr>
        <p:txBody>
          <a:bodyPr wrap="square" lIns="54864" tIns="18288" rIns="54864" bIns="18288" anchor="ctr">
            <a:spAutoFit/>
          </a:bodyPr>
          <a:lstStyle/>
          <a:p>
            <a:pPr algn="l"/>
            <a:r>
              <a:rPr sz="1500" b="1">
                <a:solidFill>
                  <a:srgbClr val="191B5C"/>
                </a:solidFill>
                <a:latin typeface="Aptos"/>
              </a:rPr>
              <a:t>Impact</a:t>
            </a:r>
          </a:p>
        </p:txBody>
      </p:sp>
      <p:sp>
        <p:nvSpPr>
          <p:cNvPr id="14" name="TextBox 13"/>
          <p:cNvSpPr txBox="1"/>
          <p:nvPr/>
        </p:nvSpPr>
        <p:spPr>
          <a:xfrm>
            <a:off x="822959" y="2212848"/>
            <a:ext cx="3200400" cy="1170431"/>
          </a:xfrm>
          <a:prstGeom prst="rect">
            <a:avLst/>
          </a:prstGeom>
          <a:noFill/>
        </p:spPr>
        <p:txBody>
          <a:bodyPr wrap="square" lIns="54864" tIns="18288" rIns="54864" bIns="18288" anchor="t">
            <a:spAutoFit/>
          </a:bodyPr>
          <a:lstStyle/>
          <a:p>
            <a:pPr algn="l"/>
            <a:r>
              <a:rPr sz="1400" b="0">
                <a:solidFill>
                  <a:srgbClr val="2D2B39"/>
                </a:solidFill>
                <a:latin typeface="Aptos"/>
              </a:rPr>
              <a:t>Help is called even when she can't reach her phone. Live location and audio give family and police something to act on.</a:t>
            </a:r>
          </a:p>
        </p:txBody>
      </p:sp>
      <p:sp>
        <p:nvSpPr>
          <p:cNvPr id="15" name="Rounded Rectangle 14"/>
          <p:cNvSpPr/>
          <p:nvPr/>
        </p:nvSpPr>
        <p:spPr>
          <a:xfrm>
            <a:off x="4343400" y="1737360"/>
            <a:ext cx="3520440" cy="173736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343400" y="1737360"/>
            <a:ext cx="68580" cy="1737360"/>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26280" y="1847088"/>
            <a:ext cx="3200400" cy="320040"/>
          </a:xfrm>
          <a:prstGeom prst="rect">
            <a:avLst/>
          </a:prstGeom>
          <a:noFill/>
        </p:spPr>
        <p:txBody>
          <a:bodyPr wrap="square" lIns="54864" tIns="18288" rIns="54864" bIns="18288" anchor="ctr">
            <a:spAutoFit/>
          </a:bodyPr>
          <a:lstStyle/>
          <a:p>
            <a:pPr algn="l"/>
            <a:r>
              <a:rPr sz="1500" b="1">
                <a:solidFill>
                  <a:srgbClr val="191B5C"/>
                </a:solidFill>
                <a:latin typeface="Aptos"/>
              </a:rPr>
              <a:t>Business model</a:t>
            </a:r>
          </a:p>
        </p:txBody>
      </p:sp>
      <p:sp>
        <p:nvSpPr>
          <p:cNvPr id="18" name="TextBox 17"/>
          <p:cNvSpPr txBox="1"/>
          <p:nvPr/>
        </p:nvSpPr>
        <p:spPr>
          <a:xfrm>
            <a:off x="4526280" y="2212848"/>
            <a:ext cx="3200400" cy="1170431"/>
          </a:xfrm>
          <a:prstGeom prst="rect">
            <a:avLst/>
          </a:prstGeom>
          <a:noFill/>
        </p:spPr>
        <p:txBody>
          <a:bodyPr wrap="square" lIns="54864" tIns="18288" rIns="54864" bIns="18288" anchor="t">
            <a:spAutoFit/>
          </a:bodyPr>
          <a:lstStyle/>
          <a:p>
            <a:pPr algn="l"/>
            <a:r>
              <a:rPr sz="1400" b="0">
                <a:solidFill>
                  <a:srgbClr val="2D2B39"/>
                </a:solidFill>
                <a:latin typeface="Aptos"/>
              </a:rPr>
              <a:t>Watch sold to individuals; bulk plans for colleges, hostels and employers; optional alert-service subscription.</a:t>
            </a:r>
          </a:p>
        </p:txBody>
      </p:sp>
      <p:sp>
        <p:nvSpPr>
          <p:cNvPr id="19" name="Rounded Rectangle 18"/>
          <p:cNvSpPr/>
          <p:nvPr/>
        </p:nvSpPr>
        <p:spPr>
          <a:xfrm>
            <a:off x="8046720" y="1737360"/>
            <a:ext cx="3520440" cy="173736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46720" y="1737360"/>
            <a:ext cx="68580" cy="1737360"/>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0" y="1847088"/>
            <a:ext cx="3200400" cy="320040"/>
          </a:xfrm>
          <a:prstGeom prst="rect">
            <a:avLst/>
          </a:prstGeom>
          <a:noFill/>
        </p:spPr>
        <p:txBody>
          <a:bodyPr wrap="square" lIns="54864" tIns="18288" rIns="54864" bIns="18288" anchor="ctr">
            <a:spAutoFit/>
          </a:bodyPr>
          <a:lstStyle/>
          <a:p>
            <a:pPr algn="l"/>
            <a:r>
              <a:rPr sz="1500" b="1">
                <a:solidFill>
                  <a:srgbClr val="191B5C"/>
                </a:solidFill>
                <a:latin typeface="Aptos"/>
              </a:rPr>
              <a:t>Success metrics</a:t>
            </a:r>
          </a:p>
        </p:txBody>
      </p:sp>
      <p:sp>
        <p:nvSpPr>
          <p:cNvPr id="22" name="TextBox 21"/>
          <p:cNvSpPr txBox="1"/>
          <p:nvPr/>
        </p:nvSpPr>
        <p:spPr>
          <a:xfrm>
            <a:off x="8229600" y="2212848"/>
            <a:ext cx="3200400" cy="1170431"/>
          </a:xfrm>
          <a:prstGeom prst="rect">
            <a:avLst/>
          </a:prstGeom>
          <a:noFill/>
        </p:spPr>
        <p:txBody>
          <a:bodyPr wrap="square" lIns="54864" tIns="18288" rIns="54864" bIns="18288" anchor="t">
            <a:spAutoFit/>
          </a:bodyPr>
          <a:lstStyle/>
          <a:p>
            <a:pPr algn="l"/>
            <a:r>
              <a:rPr sz="1400" b="0">
                <a:solidFill>
                  <a:srgbClr val="2D2B39"/>
                </a:solidFill>
                <a:latin typeface="Aptos"/>
              </a:rPr>
              <a:t>≥ 90 % of wrist grabs and ≥ 60 % anywhere on hardware · &lt; 1 unwanted prompt a day · alert within 20 s</a:t>
            </a:r>
          </a:p>
        </p:txBody>
      </p:sp>
      <p:sp>
        <p:nvSpPr>
          <p:cNvPr id="23" name="TextBox 22"/>
          <p:cNvSpPr txBox="1"/>
          <p:nvPr/>
        </p:nvSpPr>
        <p:spPr>
          <a:xfrm>
            <a:off x="685800" y="3977639"/>
            <a:ext cx="3657600" cy="320040"/>
          </a:xfrm>
          <a:prstGeom prst="rect">
            <a:avLst/>
          </a:prstGeom>
          <a:noFill/>
        </p:spPr>
        <p:txBody>
          <a:bodyPr wrap="square" lIns="54864" tIns="18288" rIns="54864" bIns="18288" anchor="ctr">
            <a:spAutoFit/>
          </a:bodyPr>
          <a:lstStyle/>
          <a:p>
            <a:pPr algn="l"/>
            <a:r>
              <a:rPr sz="1400" b="1">
                <a:solidFill>
                  <a:srgbClr val="191B5C"/>
                </a:solidFill>
                <a:latin typeface="Aptos"/>
              </a:rPr>
              <a:t>FUTURE ROADMAP</a:t>
            </a:r>
          </a:p>
        </p:txBody>
      </p:sp>
      <p:sp>
        <p:nvSpPr>
          <p:cNvPr id="24" name="Rounded Rectangle 23"/>
          <p:cNvSpPr/>
          <p:nvPr/>
        </p:nvSpPr>
        <p:spPr>
          <a:xfrm>
            <a:off x="685800" y="4480560"/>
            <a:ext cx="3474720" cy="96012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4590288"/>
            <a:ext cx="777240" cy="274320"/>
          </a:xfrm>
          <a:prstGeom prst="rect">
            <a:avLst/>
          </a:prstGeom>
          <a:noFill/>
        </p:spPr>
        <p:txBody>
          <a:bodyPr wrap="square" lIns="54864" tIns="18288" rIns="54864" bIns="18288" anchor="ctr">
            <a:spAutoFit/>
          </a:bodyPr>
          <a:lstStyle/>
          <a:p>
            <a:pPr algn="l"/>
            <a:r>
              <a:rPr sz="1200" b="1">
                <a:solidFill>
                  <a:srgbClr val="5B2278"/>
                </a:solidFill>
                <a:latin typeface="Aptos"/>
              </a:rPr>
              <a:t>NOW</a:t>
            </a:r>
          </a:p>
        </p:txBody>
      </p:sp>
      <p:sp>
        <p:nvSpPr>
          <p:cNvPr id="26" name="TextBox 25"/>
          <p:cNvSpPr txBox="1"/>
          <p:nvPr/>
        </p:nvSpPr>
        <p:spPr>
          <a:xfrm>
            <a:off x="1600200" y="4572000"/>
            <a:ext cx="2377440" cy="502920"/>
          </a:xfrm>
          <a:prstGeom prst="rect">
            <a:avLst/>
          </a:prstGeom>
          <a:noFill/>
        </p:spPr>
        <p:txBody>
          <a:bodyPr wrap="square" lIns="54864" tIns="18288" rIns="54864" bIns="18288" anchor="ctr">
            <a:spAutoFit/>
          </a:bodyPr>
          <a:lstStyle/>
          <a:p>
            <a:pPr algn="l"/>
            <a:r>
              <a:rPr sz="1200" b="0">
                <a:solidFill>
                  <a:srgbClr val="2D2B39"/>
                </a:solidFill>
                <a:latin typeface="Aptos"/>
              </a:rPr>
              <a:t>Validated model + digital twin</a:t>
            </a:r>
          </a:p>
        </p:txBody>
      </p:sp>
      <p:sp>
        <p:nvSpPr>
          <p:cNvPr id="27" name="Rounded Rectangle 26"/>
          <p:cNvSpPr/>
          <p:nvPr/>
        </p:nvSpPr>
        <p:spPr>
          <a:xfrm>
            <a:off x="4480560" y="4480560"/>
            <a:ext cx="3474720" cy="96012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617720" y="4590288"/>
            <a:ext cx="777240" cy="274320"/>
          </a:xfrm>
          <a:prstGeom prst="rect">
            <a:avLst/>
          </a:prstGeom>
          <a:noFill/>
        </p:spPr>
        <p:txBody>
          <a:bodyPr wrap="square" lIns="54864" tIns="18288" rIns="54864" bIns="18288" anchor="ctr">
            <a:spAutoFit/>
          </a:bodyPr>
          <a:lstStyle/>
          <a:p>
            <a:pPr algn="l"/>
            <a:r>
              <a:rPr sz="1200" b="1">
                <a:solidFill>
                  <a:srgbClr val="5B2278"/>
                </a:solidFill>
                <a:latin typeface="Aptos"/>
              </a:rPr>
              <a:t>NEXT</a:t>
            </a:r>
          </a:p>
        </p:txBody>
      </p:sp>
      <p:sp>
        <p:nvSpPr>
          <p:cNvPr id="29" name="TextBox 28"/>
          <p:cNvSpPr txBox="1"/>
          <p:nvPr/>
        </p:nvSpPr>
        <p:spPr>
          <a:xfrm>
            <a:off x="5394960" y="4572000"/>
            <a:ext cx="2377440" cy="502920"/>
          </a:xfrm>
          <a:prstGeom prst="rect">
            <a:avLst/>
          </a:prstGeom>
          <a:noFill/>
        </p:spPr>
        <p:txBody>
          <a:bodyPr wrap="square" lIns="54864" tIns="18288" rIns="54864" bIns="18288" anchor="ctr">
            <a:spAutoFit/>
          </a:bodyPr>
          <a:lstStyle/>
          <a:p>
            <a:pPr algn="l"/>
            <a:r>
              <a:rPr sz="1200" b="0">
                <a:solidFill>
                  <a:srgbClr val="2D2B39"/>
                </a:solidFill>
                <a:latin typeface="Aptos"/>
              </a:rPr>
              <a:t>Battery prototype, field tests</a:t>
            </a:r>
          </a:p>
        </p:txBody>
      </p:sp>
      <p:sp>
        <p:nvSpPr>
          <p:cNvPr id="30" name="Rounded Rectangle 29"/>
          <p:cNvSpPr/>
          <p:nvPr/>
        </p:nvSpPr>
        <p:spPr>
          <a:xfrm>
            <a:off x="8275320" y="4480560"/>
            <a:ext cx="3474720" cy="96012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412480" y="4590288"/>
            <a:ext cx="777240" cy="274320"/>
          </a:xfrm>
          <a:prstGeom prst="rect">
            <a:avLst/>
          </a:prstGeom>
          <a:noFill/>
        </p:spPr>
        <p:txBody>
          <a:bodyPr wrap="square" lIns="54864" tIns="18288" rIns="54864" bIns="18288" anchor="ctr">
            <a:spAutoFit/>
          </a:bodyPr>
          <a:lstStyle/>
          <a:p>
            <a:pPr algn="l"/>
            <a:r>
              <a:rPr sz="1200" b="1">
                <a:solidFill>
                  <a:srgbClr val="5B2278"/>
                </a:solidFill>
                <a:latin typeface="Aptos"/>
              </a:rPr>
              <a:t>LATER</a:t>
            </a:r>
          </a:p>
        </p:txBody>
      </p:sp>
      <p:sp>
        <p:nvSpPr>
          <p:cNvPr id="32" name="TextBox 31"/>
          <p:cNvSpPr txBox="1"/>
          <p:nvPr/>
        </p:nvSpPr>
        <p:spPr>
          <a:xfrm>
            <a:off x="9189720" y="4572000"/>
            <a:ext cx="2377440" cy="502920"/>
          </a:xfrm>
          <a:prstGeom prst="rect">
            <a:avLst/>
          </a:prstGeom>
          <a:noFill/>
        </p:spPr>
        <p:txBody>
          <a:bodyPr wrap="square" lIns="54864" tIns="18288" rIns="54864" bIns="18288" anchor="ctr">
            <a:spAutoFit/>
          </a:bodyPr>
          <a:lstStyle/>
          <a:p>
            <a:pPr algn="l"/>
            <a:r>
              <a:rPr sz="1200" b="0">
                <a:solidFill>
                  <a:srgbClr val="2D2B39"/>
                </a:solidFill>
                <a:latin typeface="Aptos"/>
              </a:rPr>
              <a:t>Audio confirm, college pilot</a:t>
            </a:r>
          </a:p>
        </p:txBody>
      </p:sp>
      <p:pic>
        <p:nvPicPr>
          <p:cNvPr id="34" name="Picture 33">
            <a:extLst>
              <a:ext uri="{FF2B5EF4-FFF2-40B4-BE49-F238E27FC236}">
                <a16:creationId xmlns:a16="http://schemas.microsoft.com/office/drawing/2014/main" id="{44D92271-3D80-F7C7-038D-2F0283A685E8}"/>
              </a:ext>
            </a:extLst>
          </p:cNvPr>
          <p:cNvPicPr>
            <a:picLocks noChangeAspect="1"/>
          </p:cNvPicPr>
          <p:nvPr/>
        </p:nvPicPr>
        <p:blipFill>
          <a:blip r:embed="rId2"/>
          <a:srcRect t="7524" b="12718"/>
          <a:stretch>
            <a:fillRect/>
          </a:stretch>
        </p:blipFill>
        <p:spPr>
          <a:xfrm>
            <a:off x="314632" y="203980"/>
            <a:ext cx="1742768" cy="55599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57400" y="256032"/>
            <a:ext cx="7223760" cy="274320"/>
          </a:xfrm>
          <a:prstGeom prst="rect">
            <a:avLst/>
          </a:prstGeom>
          <a:noFill/>
        </p:spPr>
        <p:txBody>
          <a:bodyPr wrap="square" lIns="54864" tIns="18288" rIns="54864" bIns="18288" anchor="ctr">
            <a:spAutoFit/>
          </a:bodyPr>
          <a:lstStyle/>
          <a:p>
            <a:pPr algn="l"/>
            <a:r>
              <a:rPr sz="1000" b="1">
                <a:solidFill>
                  <a:srgbClr val="191B5C"/>
                </a:solidFill>
                <a:latin typeface="Aptos"/>
              </a:rPr>
              <a:t>BHARATH INNOVATE HACKATHON 2026</a:t>
            </a:r>
          </a:p>
        </p:txBody>
      </p:sp>
      <p:sp>
        <p:nvSpPr>
          <p:cNvPr id="5" name="TextBox 4"/>
          <p:cNvSpPr txBox="1"/>
          <p:nvPr/>
        </p:nvSpPr>
        <p:spPr>
          <a:xfrm>
            <a:off x="11064240" y="256032"/>
            <a:ext cx="548640" cy="274320"/>
          </a:xfrm>
          <a:prstGeom prst="rect">
            <a:avLst/>
          </a:prstGeom>
          <a:noFill/>
        </p:spPr>
        <p:txBody>
          <a:bodyPr wrap="square" lIns="54864" tIns="18288" rIns="54864" bIns="18288" anchor="ctr">
            <a:spAutoFit/>
          </a:bodyPr>
          <a:lstStyle/>
          <a:p>
            <a:pPr algn="r"/>
            <a:r>
              <a:rPr sz="1100" b="1">
                <a:solidFill>
                  <a:srgbClr val="5B2278"/>
                </a:solidFill>
                <a:latin typeface="Aptos"/>
              </a:rPr>
              <a:t>08</a:t>
            </a:r>
          </a:p>
        </p:txBody>
      </p:sp>
      <p:sp>
        <p:nvSpPr>
          <p:cNvPr id="6" name="TextBox 5"/>
          <p:cNvSpPr txBox="1"/>
          <p:nvPr/>
        </p:nvSpPr>
        <p:spPr>
          <a:xfrm>
            <a:off x="566928" y="868680"/>
            <a:ext cx="10881360" cy="475488"/>
          </a:xfrm>
          <a:prstGeom prst="rect">
            <a:avLst/>
          </a:prstGeom>
          <a:noFill/>
        </p:spPr>
        <p:txBody>
          <a:bodyPr wrap="square" lIns="54864" tIns="18288" rIns="54864" bIns="18288" anchor="ctr">
            <a:spAutoFit/>
          </a:bodyPr>
          <a:lstStyle/>
          <a:p>
            <a:pPr algn="l"/>
            <a:r>
              <a:rPr sz="2500" b="1">
                <a:solidFill>
                  <a:srgbClr val="191B5C"/>
                </a:solidFill>
                <a:latin typeface="Aptos"/>
              </a:rPr>
              <a:t>Team &amp; Responsibilities</a:t>
            </a:r>
          </a:p>
        </p:txBody>
      </p:sp>
      <p:sp>
        <p:nvSpPr>
          <p:cNvPr id="7" name="Rectangle 6"/>
          <p:cNvSpPr/>
          <p:nvPr/>
        </p:nvSpPr>
        <p:spPr>
          <a:xfrm>
            <a:off x="594360" y="1417320"/>
            <a:ext cx="658368" cy="41148"/>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711696"/>
            <a:ext cx="12191695" cy="146304"/>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82512"/>
            <a:ext cx="6858000" cy="201168"/>
          </a:xfrm>
          <a:prstGeom prst="rect">
            <a:avLst/>
          </a:prstGeom>
          <a:noFill/>
        </p:spPr>
        <p:txBody>
          <a:bodyPr wrap="square" lIns="54864" tIns="18288" rIns="54864" bIns="18288" anchor="ctr">
            <a:spAutoFit/>
          </a:bodyPr>
          <a:lstStyle/>
          <a:p>
            <a:pPr algn="l"/>
            <a:r>
              <a:rPr sz="900" b="1">
                <a:solidFill>
                  <a:srgbClr val="696775"/>
                </a:solidFill>
                <a:latin typeface="Aptos"/>
              </a:rPr>
              <a:t>Innovate  |  Build  |  Solve  |  A Stronger Bharat</a:t>
            </a:r>
          </a:p>
        </p:txBody>
      </p:sp>
      <p:sp>
        <p:nvSpPr>
          <p:cNvPr id="10" name="TextBox 9"/>
          <p:cNvSpPr txBox="1"/>
          <p:nvPr/>
        </p:nvSpPr>
        <p:spPr>
          <a:xfrm>
            <a:off x="8321040" y="6382512"/>
            <a:ext cx="3246120" cy="201168"/>
          </a:xfrm>
          <a:prstGeom prst="rect">
            <a:avLst/>
          </a:prstGeom>
          <a:noFill/>
        </p:spPr>
        <p:txBody>
          <a:bodyPr wrap="square" lIns="54864" tIns="18288" rIns="54864" bIns="18288" anchor="ctr">
            <a:spAutoFit/>
          </a:bodyPr>
          <a:lstStyle/>
          <a:p>
            <a:pPr algn="r"/>
            <a:r>
              <a:rPr sz="900" b="0">
                <a:solidFill>
                  <a:srgbClr val="696775"/>
                </a:solidFill>
                <a:latin typeface="Aptos"/>
              </a:rPr>
              <a:t>Team Sparsha  •  RV University</a:t>
            </a:r>
          </a:p>
        </p:txBody>
      </p:sp>
      <p:sp>
        <p:nvSpPr>
          <p:cNvPr id="11" name="Rounded Rectangle 10"/>
          <p:cNvSpPr/>
          <p:nvPr/>
        </p:nvSpPr>
        <p:spPr>
          <a:xfrm>
            <a:off x="685800" y="1828800"/>
            <a:ext cx="5212080" cy="1874519"/>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2148840"/>
            <a:ext cx="4937760" cy="320040"/>
          </a:xfrm>
          <a:prstGeom prst="rect">
            <a:avLst/>
          </a:prstGeom>
          <a:noFill/>
        </p:spPr>
        <p:txBody>
          <a:bodyPr wrap="square" lIns="54864" tIns="18288" rIns="54864" bIns="18288" anchor="ctr">
            <a:spAutoFit/>
          </a:bodyPr>
          <a:lstStyle/>
          <a:p>
            <a:pPr algn="ctr"/>
            <a:r>
              <a:rPr sz="1400" b="1">
                <a:solidFill>
                  <a:srgbClr val="191B5C"/>
                </a:solidFill>
                <a:latin typeface="Aptos"/>
              </a:rPr>
              <a:t>MEMBER 1</a:t>
            </a:r>
          </a:p>
        </p:txBody>
      </p:sp>
      <p:sp>
        <p:nvSpPr>
          <p:cNvPr id="13" name="TextBox 12"/>
          <p:cNvSpPr txBox="1"/>
          <p:nvPr/>
        </p:nvSpPr>
        <p:spPr>
          <a:xfrm>
            <a:off x="822960" y="2606040"/>
            <a:ext cx="4937760" cy="320040"/>
          </a:xfrm>
          <a:prstGeom prst="rect">
            <a:avLst/>
          </a:prstGeom>
          <a:noFill/>
        </p:spPr>
        <p:txBody>
          <a:bodyPr wrap="square" lIns="54864" tIns="18288" rIns="54864" bIns="18288" anchor="ctr">
            <a:spAutoFit/>
          </a:bodyPr>
          <a:lstStyle/>
          <a:p>
            <a:pPr algn="ctr"/>
            <a:r>
              <a:rPr sz="1400" b="1">
                <a:solidFill>
                  <a:srgbClr val="5B2278"/>
                </a:solidFill>
                <a:latin typeface="Aptos"/>
              </a:rPr>
              <a:t>Bhajanth V</a:t>
            </a:r>
          </a:p>
        </p:txBody>
      </p:sp>
      <p:sp>
        <p:nvSpPr>
          <p:cNvPr id="14" name="TextBox 13"/>
          <p:cNvSpPr txBox="1"/>
          <p:nvPr/>
        </p:nvSpPr>
        <p:spPr>
          <a:xfrm>
            <a:off x="822960" y="3063240"/>
            <a:ext cx="4937760" cy="320040"/>
          </a:xfrm>
          <a:prstGeom prst="rect">
            <a:avLst/>
          </a:prstGeom>
          <a:noFill/>
        </p:spPr>
        <p:txBody>
          <a:bodyPr wrap="square" lIns="54864" tIns="18288" rIns="54864" bIns="18288" anchor="ctr">
            <a:spAutoFit/>
          </a:bodyPr>
          <a:lstStyle/>
          <a:p>
            <a:pPr algn="ctr"/>
            <a:r>
              <a:rPr sz="1100" b="0">
                <a:solidFill>
                  <a:srgbClr val="696775"/>
                </a:solidFill>
                <a:latin typeface="Aptos"/>
              </a:rPr>
              <a:t>Co-developer</a:t>
            </a:r>
          </a:p>
        </p:txBody>
      </p:sp>
      <p:sp>
        <p:nvSpPr>
          <p:cNvPr id="15" name="Rounded Rectangle 14"/>
          <p:cNvSpPr/>
          <p:nvPr/>
        </p:nvSpPr>
        <p:spPr>
          <a:xfrm>
            <a:off x="6217920" y="1828800"/>
            <a:ext cx="5212080" cy="1874519"/>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80" y="2148840"/>
            <a:ext cx="4937760" cy="320040"/>
          </a:xfrm>
          <a:prstGeom prst="rect">
            <a:avLst/>
          </a:prstGeom>
          <a:noFill/>
        </p:spPr>
        <p:txBody>
          <a:bodyPr wrap="square" lIns="54864" tIns="18288" rIns="54864" bIns="18288" anchor="ctr">
            <a:spAutoFit/>
          </a:bodyPr>
          <a:lstStyle/>
          <a:p>
            <a:pPr algn="ctr"/>
            <a:r>
              <a:rPr sz="1400" b="1">
                <a:solidFill>
                  <a:srgbClr val="191B5C"/>
                </a:solidFill>
                <a:latin typeface="Aptos"/>
              </a:rPr>
              <a:t>MEMBER 2</a:t>
            </a:r>
          </a:p>
        </p:txBody>
      </p:sp>
      <p:sp>
        <p:nvSpPr>
          <p:cNvPr id="17" name="TextBox 16"/>
          <p:cNvSpPr txBox="1"/>
          <p:nvPr/>
        </p:nvSpPr>
        <p:spPr>
          <a:xfrm>
            <a:off x="6355080" y="2606040"/>
            <a:ext cx="4937760" cy="320040"/>
          </a:xfrm>
          <a:prstGeom prst="rect">
            <a:avLst/>
          </a:prstGeom>
          <a:noFill/>
        </p:spPr>
        <p:txBody>
          <a:bodyPr wrap="square" lIns="54864" tIns="18288" rIns="54864" bIns="18288" anchor="ctr">
            <a:spAutoFit/>
          </a:bodyPr>
          <a:lstStyle/>
          <a:p>
            <a:pPr algn="ctr"/>
            <a:r>
              <a:rPr sz="1400" b="1">
                <a:solidFill>
                  <a:srgbClr val="5B2278"/>
                </a:solidFill>
                <a:latin typeface="Aptos"/>
              </a:rPr>
              <a:t>Sukruth A Chinnur</a:t>
            </a:r>
          </a:p>
        </p:txBody>
      </p:sp>
      <p:sp>
        <p:nvSpPr>
          <p:cNvPr id="18" name="TextBox 17"/>
          <p:cNvSpPr txBox="1"/>
          <p:nvPr/>
        </p:nvSpPr>
        <p:spPr>
          <a:xfrm>
            <a:off x="6355080" y="3063240"/>
            <a:ext cx="4937760" cy="320040"/>
          </a:xfrm>
          <a:prstGeom prst="rect">
            <a:avLst/>
          </a:prstGeom>
          <a:noFill/>
        </p:spPr>
        <p:txBody>
          <a:bodyPr wrap="square" lIns="54864" tIns="18288" rIns="54864" bIns="18288" anchor="ctr">
            <a:spAutoFit/>
          </a:bodyPr>
          <a:lstStyle/>
          <a:p>
            <a:pPr algn="ctr"/>
            <a:r>
              <a:rPr sz="1100" b="0">
                <a:solidFill>
                  <a:srgbClr val="696775"/>
                </a:solidFill>
                <a:latin typeface="Aptos"/>
              </a:rPr>
              <a:t>Co-developer</a:t>
            </a:r>
          </a:p>
        </p:txBody>
      </p:sp>
      <p:sp>
        <p:nvSpPr>
          <p:cNvPr id="27" name="Rounded Rectangle 26"/>
          <p:cNvSpPr/>
          <p:nvPr/>
        </p:nvSpPr>
        <p:spPr>
          <a:xfrm>
            <a:off x="685800" y="4160520"/>
            <a:ext cx="5212080" cy="118872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85800" y="4160520"/>
            <a:ext cx="68580" cy="1188720"/>
          </a:xfrm>
          <a:prstGeom prst="rect">
            <a:avLst/>
          </a:prstGeom>
          <a:solidFill>
            <a:srgbClr val="5B2278"/>
          </a:solidFill>
          <a:ln>
            <a:solidFill>
              <a:srgbClr val="5B2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68680" y="4270248"/>
            <a:ext cx="4892040" cy="320040"/>
          </a:xfrm>
          <a:prstGeom prst="rect">
            <a:avLst/>
          </a:prstGeom>
          <a:noFill/>
        </p:spPr>
        <p:txBody>
          <a:bodyPr wrap="square" lIns="54864" tIns="18288" rIns="54864" bIns="18288" anchor="ctr">
            <a:spAutoFit/>
          </a:bodyPr>
          <a:lstStyle/>
          <a:p>
            <a:pPr algn="l"/>
            <a:r>
              <a:rPr sz="1500" b="1">
                <a:solidFill>
                  <a:srgbClr val="191B5C"/>
                </a:solidFill>
                <a:latin typeface="Aptos"/>
              </a:rPr>
              <a:t>Mentor / institution</a:t>
            </a:r>
          </a:p>
        </p:txBody>
      </p:sp>
      <p:sp>
        <p:nvSpPr>
          <p:cNvPr id="30" name="TextBox 29"/>
          <p:cNvSpPr txBox="1"/>
          <p:nvPr/>
        </p:nvSpPr>
        <p:spPr>
          <a:xfrm>
            <a:off x="868680" y="4636008"/>
            <a:ext cx="4892040" cy="621792"/>
          </a:xfrm>
          <a:prstGeom prst="rect">
            <a:avLst/>
          </a:prstGeom>
          <a:noFill/>
        </p:spPr>
        <p:txBody>
          <a:bodyPr wrap="square" lIns="54864" tIns="18288" rIns="54864" bIns="18288" anchor="t">
            <a:spAutoFit/>
          </a:bodyPr>
          <a:lstStyle/>
          <a:p>
            <a:pPr algn="l"/>
            <a:r>
              <a:rPr sz="1300" b="0">
                <a:solidFill>
                  <a:srgbClr val="2D2B39"/>
                </a:solidFill>
                <a:latin typeface="Aptos"/>
              </a:rPr>
              <a:t>Dr. Shruthi P, Faculty Mentor</a:t>
            </a:r>
          </a:p>
          <a:p>
            <a:pPr algn="l"/>
            <a:r>
              <a:rPr sz="1300" b="0">
                <a:solidFill>
                  <a:srgbClr val="2D2B39"/>
                </a:solidFill>
                <a:latin typeface="Aptos"/>
              </a:rPr>
              <a:t>RV University, Mysuru</a:t>
            </a:r>
          </a:p>
        </p:txBody>
      </p:sp>
      <p:sp>
        <p:nvSpPr>
          <p:cNvPr id="31" name="Rounded Rectangle 30"/>
          <p:cNvSpPr/>
          <p:nvPr/>
        </p:nvSpPr>
        <p:spPr>
          <a:xfrm>
            <a:off x="6217920" y="4160520"/>
            <a:ext cx="5212080" cy="1188720"/>
          </a:xfrm>
          <a:prstGeom prst="roundRect">
            <a:avLst/>
          </a:prstGeom>
          <a:solidFill>
            <a:srgbClr val="FFFFFF"/>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217920" y="4160520"/>
            <a:ext cx="68580" cy="1188720"/>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0" y="4270248"/>
            <a:ext cx="4892040" cy="320040"/>
          </a:xfrm>
          <a:prstGeom prst="rect">
            <a:avLst/>
          </a:prstGeom>
          <a:noFill/>
        </p:spPr>
        <p:txBody>
          <a:bodyPr wrap="square" lIns="54864" tIns="18288" rIns="54864" bIns="18288" anchor="ctr">
            <a:spAutoFit/>
          </a:bodyPr>
          <a:lstStyle/>
          <a:p>
            <a:pPr algn="l"/>
            <a:r>
              <a:rPr sz="1500" b="1">
                <a:solidFill>
                  <a:srgbClr val="191B5C"/>
                </a:solidFill>
                <a:latin typeface="Aptos"/>
              </a:rPr>
              <a:t>Execution plan</a:t>
            </a:r>
          </a:p>
        </p:txBody>
      </p:sp>
      <p:sp>
        <p:nvSpPr>
          <p:cNvPr id="34" name="TextBox 33"/>
          <p:cNvSpPr txBox="1"/>
          <p:nvPr/>
        </p:nvSpPr>
        <p:spPr>
          <a:xfrm>
            <a:off x="6400800" y="4636008"/>
            <a:ext cx="4892040" cy="621792"/>
          </a:xfrm>
          <a:prstGeom prst="rect">
            <a:avLst/>
          </a:prstGeom>
          <a:noFill/>
        </p:spPr>
        <p:txBody>
          <a:bodyPr wrap="square" lIns="54864" tIns="18288" rIns="54864" bIns="18288" anchor="t">
            <a:spAutoFit/>
          </a:bodyPr>
          <a:lstStyle/>
          <a:p>
            <a:pPr algn="l"/>
            <a:r>
              <a:rPr sz="1300" b="0">
                <a:solidFill>
                  <a:srgbClr val="2D2B39"/>
                </a:solidFill>
                <a:latin typeface="Aptos"/>
              </a:rPr>
              <a:t>Proposal → sourced physics → SPICE and FastCap checks → digital twin → static-charge fusion → Gate 1 prototype</a:t>
            </a:r>
          </a:p>
        </p:txBody>
      </p:sp>
      <p:pic>
        <p:nvPicPr>
          <p:cNvPr id="36" name="Picture 35">
            <a:extLst>
              <a:ext uri="{FF2B5EF4-FFF2-40B4-BE49-F238E27FC236}">
                <a16:creationId xmlns:a16="http://schemas.microsoft.com/office/drawing/2014/main" id="{EEE4E774-0996-A8C0-7234-569673F7F769}"/>
              </a:ext>
            </a:extLst>
          </p:cNvPr>
          <p:cNvPicPr>
            <a:picLocks noChangeAspect="1"/>
          </p:cNvPicPr>
          <p:nvPr/>
        </p:nvPicPr>
        <p:blipFill>
          <a:blip r:embed="rId2"/>
          <a:srcRect t="7524" b="12718"/>
          <a:stretch>
            <a:fillRect/>
          </a:stretch>
        </p:blipFill>
        <p:spPr>
          <a:xfrm>
            <a:off x="314632" y="203980"/>
            <a:ext cx="1742768" cy="55599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FFC41E"/>
          </a:solidFill>
          <a:ln>
            <a:solidFill>
              <a:srgbClr val="FFC4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691640"/>
            <a:ext cx="10698480" cy="822960"/>
          </a:xfrm>
          <a:prstGeom prst="rect">
            <a:avLst/>
          </a:prstGeom>
          <a:noFill/>
        </p:spPr>
        <p:txBody>
          <a:bodyPr wrap="square" lIns="54864" tIns="18288" rIns="54864" bIns="18288" anchor="ctr">
            <a:spAutoFit/>
          </a:bodyPr>
          <a:lstStyle/>
          <a:p>
            <a:pPr algn="ctr"/>
            <a:r>
              <a:rPr sz="4200" b="1">
                <a:solidFill>
                  <a:srgbClr val="191B5C"/>
                </a:solidFill>
                <a:latin typeface="Aptos"/>
              </a:rPr>
              <a:t>THANK YOU</a:t>
            </a:r>
          </a:p>
        </p:txBody>
      </p:sp>
      <p:sp>
        <p:nvSpPr>
          <p:cNvPr id="5" name="TextBox 4"/>
          <p:cNvSpPr txBox="1"/>
          <p:nvPr/>
        </p:nvSpPr>
        <p:spPr>
          <a:xfrm>
            <a:off x="731520" y="2651760"/>
            <a:ext cx="10698480" cy="457200"/>
          </a:xfrm>
          <a:prstGeom prst="rect">
            <a:avLst/>
          </a:prstGeom>
          <a:noFill/>
        </p:spPr>
        <p:txBody>
          <a:bodyPr wrap="square" lIns="54864" tIns="18288" rIns="54864" bIns="18288" anchor="ctr">
            <a:spAutoFit/>
          </a:bodyPr>
          <a:lstStyle/>
          <a:p>
            <a:pPr algn="ctr"/>
            <a:r>
              <a:rPr sz="2300" b="1">
                <a:solidFill>
                  <a:srgbClr val="5B2278"/>
                </a:solidFill>
                <a:latin typeface="Aptos"/>
              </a:rPr>
              <a:t>SparshaGuard</a:t>
            </a:r>
          </a:p>
        </p:txBody>
      </p:sp>
      <p:sp>
        <p:nvSpPr>
          <p:cNvPr id="6" name="TextBox 5"/>
          <p:cNvSpPr txBox="1"/>
          <p:nvPr/>
        </p:nvSpPr>
        <p:spPr>
          <a:xfrm>
            <a:off x="731520" y="3337560"/>
            <a:ext cx="10698480" cy="365760"/>
          </a:xfrm>
          <a:prstGeom prst="rect">
            <a:avLst/>
          </a:prstGeom>
          <a:noFill/>
        </p:spPr>
        <p:txBody>
          <a:bodyPr wrap="square" lIns="54864" tIns="18288" rIns="54864" bIns="18288" anchor="ctr">
            <a:spAutoFit/>
          </a:bodyPr>
          <a:lstStyle/>
          <a:p>
            <a:pPr algn="ctr"/>
            <a:r>
              <a:rPr sz="1600" b="0">
                <a:solidFill>
                  <a:srgbClr val="696775"/>
                </a:solidFill>
                <a:latin typeface="Aptos"/>
              </a:rPr>
              <a:t>Questions • Feedback • Collaboration</a:t>
            </a:r>
          </a:p>
        </p:txBody>
      </p:sp>
      <p:sp>
        <p:nvSpPr>
          <p:cNvPr id="7" name="Rounded Rectangle 6"/>
          <p:cNvSpPr/>
          <p:nvPr/>
        </p:nvSpPr>
        <p:spPr>
          <a:xfrm>
            <a:off x="2743200" y="4160520"/>
            <a:ext cx="6720840" cy="822960"/>
          </a:xfrm>
          <a:prstGeom prst="roundRect">
            <a:avLst/>
          </a:prstGeom>
          <a:solidFill>
            <a:srgbClr val="FAF9FC"/>
          </a:solidFill>
          <a:ln>
            <a:solidFill>
              <a:srgbClr val="E2D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26080" y="4361688"/>
            <a:ext cx="6355080" cy="384048"/>
          </a:xfrm>
          <a:prstGeom prst="rect">
            <a:avLst/>
          </a:prstGeom>
          <a:noFill/>
        </p:spPr>
        <p:txBody>
          <a:bodyPr wrap="square" lIns="54864" tIns="18288" rIns="54864" bIns="18288" anchor="ctr">
            <a:spAutoFit/>
          </a:bodyPr>
          <a:lstStyle/>
          <a:p>
            <a:pPr algn="ctr"/>
            <a:r>
              <a:rPr sz="1300" b="1">
                <a:solidFill>
                  <a:srgbClr val="191B5C"/>
                </a:solidFill>
                <a:latin typeface="Aptos"/>
              </a:rPr>
              <a:t>Live: bhajanth13.github.io/SparshaGuard</a:t>
            </a:r>
          </a:p>
          <a:p>
            <a:pPr algn="ctr"/>
            <a:r>
              <a:rPr sz="1300" b="1">
                <a:solidFill>
                  <a:srgbClr val="191B5C"/>
                </a:solidFill>
                <a:latin typeface="Aptos"/>
              </a:rPr>
              <a:t>Code: github.com/Bhajanth13/SparshaGuard</a:t>
            </a:r>
          </a:p>
        </p:txBody>
      </p:sp>
      <p:sp>
        <p:nvSpPr>
          <p:cNvPr id="9" name="Rectangle 8"/>
          <p:cNvSpPr/>
          <p:nvPr/>
        </p:nvSpPr>
        <p:spPr>
          <a:xfrm>
            <a:off x="0" y="6291072"/>
            <a:ext cx="12191695" cy="566928"/>
          </a:xfrm>
          <a:prstGeom prst="rect">
            <a:avLst/>
          </a:prstGeom>
          <a:solidFill>
            <a:srgbClr val="191B5C"/>
          </a:solidFill>
          <a:ln>
            <a:solidFill>
              <a:srgbClr val="191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6446520"/>
            <a:ext cx="10698480" cy="201168"/>
          </a:xfrm>
          <a:prstGeom prst="rect">
            <a:avLst/>
          </a:prstGeom>
          <a:noFill/>
        </p:spPr>
        <p:txBody>
          <a:bodyPr wrap="square" lIns="54864" tIns="18288" rIns="54864" bIns="18288" anchor="ctr">
            <a:spAutoFit/>
          </a:bodyPr>
          <a:lstStyle/>
          <a:p>
            <a:pPr algn="ctr"/>
            <a:r>
              <a:rPr sz="1000" b="1">
                <a:solidFill>
                  <a:srgbClr val="FFFFFF"/>
                </a:solidFill>
                <a:latin typeface="Aptos"/>
              </a:rPr>
              <a:t>BHARATH INNOVATE HACKATHON 2026  •  INNOVATE | BUILD | SOLVE</a:t>
            </a:r>
          </a:p>
        </p:txBody>
      </p:sp>
      <p:pic>
        <p:nvPicPr>
          <p:cNvPr id="12" name="Picture 11">
            <a:extLst>
              <a:ext uri="{FF2B5EF4-FFF2-40B4-BE49-F238E27FC236}">
                <a16:creationId xmlns:a16="http://schemas.microsoft.com/office/drawing/2014/main" id="{5BD285F2-FA50-7D9A-0841-712837BDA000}"/>
              </a:ext>
            </a:extLst>
          </p:cNvPr>
          <p:cNvPicPr>
            <a:picLocks noChangeAspect="1"/>
          </p:cNvPicPr>
          <p:nvPr/>
        </p:nvPicPr>
        <p:blipFill>
          <a:blip r:embed="rId2"/>
          <a:srcRect t="7524" b="12718"/>
          <a:stretch>
            <a:fillRect/>
          </a:stretch>
        </p:blipFill>
        <p:spPr>
          <a:xfrm>
            <a:off x="314632" y="203980"/>
            <a:ext cx="1742768" cy="55599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19</TotalTime>
  <Words>622</Words>
  <Application>Microsoft Office PowerPoint</Application>
  <PresentationFormat>Widescreen</PresentationFormat>
  <Paragraphs>132</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BIH2026 Simple Presentation Template with EMATIX Logo</dc:title>
  <dc:subject>Simple, clean, editable hackathon project presentation</dc:subject>
  <dc:creator>EMATIX Embedded &amp; Software Solutions Pvt. Ltd.</dc:creator>
  <cp:keywords/>
  <dc:description>generated using python-pptx</dc:description>
  <cp:lastModifiedBy>Saran .S</cp:lastModifiedBy>
  <cp:revision>2</cp:revision>
  <dcterms:created xsi:type="dcterms:W3CDTF">2013-01-27T09:14:16Z</dcterms:created>
  <dcterms:modified xsi:type="dcterms:W3CDTF">2026-10-13T04:11:04Z</dcterms:modified>
  <cp:category/>
</cp:coreProperties>
</file>